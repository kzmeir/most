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Стадия — concept (отмечена на нижней шкале).
Объект: гостиничный комплекс 4 звезды, ул. Бухтарминская, участок 1,4 га, два корпуса по 5 этажей, общая площадь 17 140,22 м².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Красным на схеме — границы смежных землепользований, синим — граница участка.
Район города и кадастровый номер — данные заказчика, вписать до показа.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Отступы 6,00 / 3,00 / 17,49 / 6,00 м вынесены на чертёж генплана.
Типовой вопрос — пожарный проезд: контур замкнут вокруг пятна застройки.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значения таблицы — из ТЭП генплана, без пересчёта.
Коэффициенты: 4941,11/14000 = 35,3 %; 17140,22/14000 = 1,22; 14000−4941,11 = 9 058,89 м² = 64,7 %.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Комплекс со стороны главного входа: круговой подъезд, входной портик, два корпуса по 5 этажей.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Вестибюль двойной высоты с раскрытием на панораму хребта.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номер раскрыт на панораму города и Заилийского Алатау, с собственным балконом на озеленённой ленте фасада.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Озеленённые террасы на лентах балконов, раскрытие на город и горы.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архитектурного блока: форма не произвольная, она выведена из силуэта хребта, который виден с участка.
Отсюда же следует отказ от высотности — здание держит горизонталь панорамы.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аргумент для градсовета: сознательный отказ от высотности. При 1,4 га можно было поставить башню — вместо этого пять этажей и раскрытие видов.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4 446,9 м² — из ТЭП. 4446,9/17140,22 = 25,9 % ≈ 26 %.
Набор общественных функций — предложение бюро; окончательный состав за заказчиком и оператором.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ВАЖНО: 260–300 номеров — оценка бюро, а не утверждённая цифра. Так и формулировать.
База: 12 693,32 м² × 0,65 ≈ 8 250 м² полезной площади; ÷ 28–32 м² на номер. 12 693,32 / 17 140,22 = 74,1 %; 12 693,32 / 4 этажа = 3 173,3 м².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9 058,89 м² = 14 000 − 4 941,11. Это территория вне пятна застройки, включая проезды.
Отдельную долю озеленения не называть — баланс территории даётся на стадии ЭП.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визуализированном генплане читаются: рампа под корпусом со шлагбаумом (подземный паркинг) и ряд наземных гостевых мест вдоль западной кромки.
Вместимость подземного паркинга по чертежу не считается — подтвердить у заказчика и вписать в плашку до показа. Это первый вопрос акимата.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Левая колонка — только то, что читается с генплана, ничего не приписано.
Правая — честный перечень открытых вопросов. Для градсовета это сильнее, чем заявление о полном соответствии всем нормам.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ВНИМАНИЕ: 160–210 рабочих мест — расчёт от отраслевого ориентира 0,6–0,7 сотрудника на номер для гостиниц 4 звезды, применённого к оценке 260–300 номеров. Это оценка, не факт.
Четыре поля справа обязательно заполнить данными заказчика до показа.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Контактный лист. QR ведёт на most-a.com.
Устно на этом слайде — три запроса к акимату: одобрить архитектурно-градостроительную концепцию, выдать АПЗ для перехода к эскизному проекту, определить технические условия на подключение к инженерным сетям.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" y="658368"/>
            <a:ext cx="153619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65836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bureau</a:t>
            </a:r>
            <a:endParaRPr lang="en-US" sz="950" dirty="0"/>
          </a:p>
        </p:txBody>
      </p:sp>
      <p:pic>
        <p:nvPicPr>
          <p:cNvPr id="4" name="Image 0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864" y="3063240"/>
            <a:ext cx="649224" cy="7223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78408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architects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kazakhstan/almaty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555687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для акимата г. Алматы</a:t>
            </a:r>
            <a:endParaRPr lang="en-US" sz="8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август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325216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4D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25216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69968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69968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masterplan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14720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4720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59472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59472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plan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Расположение и градостроительный контекст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СИТУАЦИОННАЯ СХЕМА</a:t>
            </a:r>
            <a:endParaRPr lang="en-US" sz="950" dirty="0"/>
          </a:p>
        </p:txBody>
      </p:sp>
      <p:pic>
        <p:nvPicPr>
          <p:cNvPr id="5" name="Image 0" descr="/tmp/claude-0/-home-user-most/9fc1ec31-3c64-5a82-aadb-ddb23fff6e53/scratchpad/assets/plan_ren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6053328" cy="45445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596128"/>
            <a:ext cx="6053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Генеральный план в контексте квартала. Синим — граница участка, красным — границы смежных землепользований.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896112"/>
            <a:ext cx="472104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Участок расположен вдоль ул. Бухтарминской и имеет форму вытянутого треугольника. С северо-востока он выходит на улицу, с запада и юга ограничен внутриквартальными проездами.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03720" y="2057400"/>
            <a:ext cx="472104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2240280"/>
            <a:ext cx="4721047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Территория свободна от капитальной застройки — снос и расселение не требуются.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Окружение деловое и производственное: АЗС, склады, коммерческие объекты. Жилая застройка не примыкает вплотную.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Участок обслуживается по всему периметру существующими проездами — новых транзитных связей не требуется.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Прямой выход на ул. Бухтарминскую обеспечивает подъезд гостей и транспорта обслуживания.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03720" y="4709160"/>
            <a:ext cx="472104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03720" y="4892040"/>
            <a:ext cx="472104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га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5312664"/>
            <a:ext cx="47210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ПЛОЩАДЬ ЗЕМЕЛЬНОГО УЧАСТКА</a:t>
            </a:r>
            <a:endParaRPr lang="en-US" sz="800" dirty="0"/>
          </a:p>
        </p:txBody>
      </p:sp>
      <p:pic>
        <p:nvPicPr>
          <p:cNvPr id="13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ГЕНЕРАЛЬНЫЙ ПЛАН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Посадка комплекса на участок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ГЕНПЛАН</a:t>
            </a:r>
            <a:endParaRPr lang="en-US" sz="950" dirty="0"/>
          </a:p>
        </p:txBody>
      </p:sp>
      <p:pic>
        <p:nvPicPr>
          <p:cNvPr id="5" name="Image 0" descr="/tmp/claude-0/-home-user-most/9fc1ec31-3c64-5a82-aadb-ddb23fff6e53/scratchpad/assets/genplan_s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6053328" cy="5212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03720" y="896112"/>
            <a:ext cx="472104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корпуса поставлены вдоль длинных сторон участка и раскрыты во двор. По периметру застройки — кольцевой проезд, между проездом и границей полоса озеленения.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903720" y="1920240"/>
            <a:ext cx="472104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03720" y="2048256"/>
            <a:ext cx="4721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ОТСТУПЫ ЗАСТРОЙКИ ОТ ГРАНИЦ УЧАСТКА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2322576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</a:t>
            </a:r>
            <a:pPr indent="0" marL="0">
              <a:buNone/>
            </a:pPr>
            <a:r>
              <a:rPr lang="en-US" sz="9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651760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spc="2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ЗАПАД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8083982" y="2322576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</a:t>
            </a:r>
            <a:pPr indent="0" marL="0">
              <a:buNone/>
            </a:pPr>
            <a:r>
              <a:rPr lang="en-US" sz="9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083982" y="2651760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spc="2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СЕВЕРО-ВОСТОК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9264244" y="2322576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17,49</a:t>
            </a:r>
            <a:pPr indent="0" marL="0">
              <a:buNone/>
            </a:pPr>
            <a:r>
              <a:rPr lang="en-US" sz="9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264244" y="2651760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spc="2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ВОСТОК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10444505" y="2322576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</a:t>
            </a:r>
            <a:pPr indent="0" marL="0">
              <a:buNone/>
            </a:pPr>
            <a:r>
              <a:rPr lang="en-US" sz="9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0444505" y="2651760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spc="2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ЮГ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03720" y="3108960"/>
            <a:ext cx="472104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3291840"/>
            <a:ext cx="4721047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Кольцевой проезд замкнут вокруг обоих корпусов: подъезд ко всем входам и разворот пожарной техники.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узел въезда организован в западной части участка, со стороны внутриквартального проезда.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Рядовая посадка деревьев по всему периметру формирует буфер между застройкой и границами участка.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Внутренний двор между корпусами защищён от улицы.</a:t>
            </a:r>
            <a:endParaRPr lang="en-US" sz="1050" dirty="0"/>
          </a:p>
        </p:txBody>
      </p:sp>
      <p:pic>
        <p:nvPicPr>
          <p:cNvPr id="19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Технико-экономические показатели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ТЭП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ТЭП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 приведены по проекту генерального плана. Расчётные коэффициенты получены из них арифметически.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33172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Застроено 35,3 % участка — 4 941,11 м² из 14 000 м².</a:t>
            </a:r>
            <a:endParaRPr lang="en-US" sz="100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 использования территории 1,22 — 17 140,22 м² на 14 000 м².</a:t>
            </a:r>
            <a:endParaRPr lang="en-US" sz="100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 пятна застройки 9 058,89 м², или 64,7 % участка.</a:t>
            </a:r>
            <a:endParaRPr lang="en-US" sz="100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Номерной фонд занимает 74,1 % общей площади здания.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960120"/>
          <a:ext cx="69494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30" kern="0" dirty="0">
                          <a:solidFill>
                            <a:srgbClr val="FF4D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30" kern="0" dirty="0">
                          <a:solidFill>
                            <a:srgbClr val="FF4D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Площадь земельного участка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 га (14 000 м²)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Площадь застройки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4 941,11 м²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Площадь 1-го этажа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4 446,9 м²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Площадь номерного фонда (этажи 2–5)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12 693,32 м²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Общая площадь здания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17 140,22 м²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Этажность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этажей, два корпуса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709160" y="44348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общие ТЭП генерального плана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5029200"/>
            <a:ext cx="213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35,3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5449824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 ЗАСТРОЙКИ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7025640" y="5029200"/>
            <a:ext cx="213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7025640" y="5449824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 ИСПОЛЬЗОВАНИЯ ТЕРРИТОРИИ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9342120" y="5029200"/>
            <a:ext cx="213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64,7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342120" y="5449824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СВОБОДНО ОТ ЗАСТРОЙКИ</a:t>
            </a:r>
            <a:endParaRPr lang="en-US" sz="800" dirty="0"/>
          </a:p>
        </p:txBody>
      </p:sp>
      <p:pic>
        <p:nvPicPr>
          <p:cNvPr id="17" name="Image 0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st/9fc1ec31-3c64-5a82-aadb-ddb23fff6e53/scratchpad/assets/faca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ФАСАД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Въездная группа со стороны ул. Бухтарминской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ВИЗУАЛИЗАЦИИ</a:t>
            </a:r>
            <a:endParaRPr lang="en-US" sz="950" dirty="0"/>
          </a:p>
        </p:txBody>
      </p:sp>
      <p:pic>
        <p:nvPicPr>
          <p:cNvPr id="6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st/9fc1ec31-3c64-5a82-aadb-ddb23fff6e53/scratchpad/assets/lobb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ВХОДНАЯ ГРУППА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Лобби и зона приёма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ВИЗУАЛИЗАЦИИ</a:t>
            </a:r>
            <a:endParaRPr lang="en-US" sz="950" dirty="0"/>
          </a:p>
        </p:txBody>
      </p:sp>
      <p:pic>
        <p:nvPicPr>
          <p:cNvPr id="6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st/9fc1ec31-3c64-5a82-aadb-ddb23fff6e53/scratchpad/assets/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НОМЕРНОЙ ФОНД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 с балконом верхнего яруса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ВИЗУАЛИЗАЦИИ</a:t>
            </a:r>
            <a:endParaRPr lang="en-US" sz="950" dirty="0"/>
          </a:p>
        </p:txBody>
      </p:sp>
      <p:pic>
        <p:nvPicPr>
          <p:cNvPr id="6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st/9fc1ec31-3c64-5a82-aadb-ddb23fff6e53/scratchpad/assets/terra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ОБЩЕСТВЕННЫЕ ПРОСТРАНСТВА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Терраса верхнего яруса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ВИЗУАЛИЗАЦИИ</a:t>
            </a:r>
            <a:endParaRPr lang="en-US" sz="950" dirty="0"/>
          </a:p>
        </p:txBody>
      </p:sp>
      <p:pic>
        <p:nvPicPr>
          <p:cNvPr id="6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Генезис формы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ОТ СИЛУЭТА ГОР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Исходная линия проекта — панорама Заилийского Алатау, которая открывается с участка. Ломаная гряда последовательно сглаживается до плавных горизонталей и переходит в ленты перекрытий: здание читается как продолжение ландшафта, а не как объект, поставленный перед ним.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342900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шага абстракции: линия хребта — сглаженный контур — ленты перекрытий.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Переменная высота лент повторяет ритм гряды: объём нарастает к центру и опадает к краям.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ярусов держат горизонталь и не конкурируют с панорамой.</a:t>
            </a:r>
            <a:endParaRPr lang="en-US" sz="1050" dirty="0"/>
          </a:p>
        </p:txBody>
      </p:sp>
      <p:pic>
        <p:nvPicPr>
          <p:cNvPr id="9" name="Image 0" descr="/tmp/claude-0/-home-user-most/9fc1ec31-3c64-5a82-aadb-ddb23fff6e53/scratchpad/assets/genes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60120"/>
            <a:ext cx="6949440" cy="46360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709160" y="566928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Генезис формы: от силуэта Заилийского Алатау к лентам перекрытий.</a:t>
            </a:r>
            <a:endParaRPr lang="en-US" sz="800" dirty="0"/>
          </a:p>
        </p:txBody>
      </p:sp>
      <p:pic>
        <p:nvPicPr>
          <p:cNvPr id="11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Объёмно-пространственное решение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ГОРИЗОНТАЛЬ ВМЕСТО ВЫСОТЫ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набран горизонтальными лентами перекрытий с плавными скруглениями. Пять этажей вместо башни: комплекс не спорит с панорамой гор и не перекрывает виды соседней застройки. Ленты балконов и террас озеленены по всей длине — зелень становится частью фасада, а не только партера.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83464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Сомасштабность: 5 этажей — в габаритах окружающей застройки, без доминанты.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Озеленённые террасы на каждом ярусе балконов по всей длине фасада.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Раскрытие на горы: номера и общественные террасы ориентированы на панораму.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Входная группа выделена высоким портиком с круговым подъездом.</a:t>
            </a:r>
            <a:endParaRPr lang="en-US" sz="1050" dirty="0"/>
          </a:p>
        </p:txBody>
      </p:sp>
      <p:pic>
        <p:nvPicPr>
          <p:cNvPr id="9" name="Image 0" descr="/tmp/claude-0/-home-user-most/9fc1ec31-3c64-5a82-aadb-ddb23fff6e53/scratchpad/assets/faca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60120"/>
            <a:ext cx="6949440" cy="39136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709160" y="52578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этажей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56784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ЭТАЖНОСТЬ ОБОИХ КОРПУСОВ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525780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17 140,22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м²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56784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ПЛОЩАДЬ ЗДАНИЯ</a:t>
            </a:r>
            <a:endParaRPr lang="en-US" sz="800" dirty="0"/>
          </a:p>
        </p:txBody>
      </p:sp>
      <p:pic>
        <p:nvPicPr>
          <p:cNvPr id="14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Функциональное зонирование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ЭТАЖ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ЭТАЖ — ОБЩЕСТВЕННЫЙ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4 446,9 м² первого этажа — четверть всей площади комплекса — отданы функциям, которыми пользуются не только постояльцы.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697480"/>
            <a:ext cx="3794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Лобби и стойка приёма: круговой подъезд, зона высадки, вестибюль двойной высоты.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Рестораны и кафе — работают на город, а не только на гостей гостиницы.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Конференц-зона для деловых мероприятий и городских событий.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Оздоровительный блок: СПА и фитнес. Состав уточняется на стадии эскизного проекта.</a:t>
            </a:r>
            <a:endParaRPr lang="en-US" sz="1050" dirty="0"/>
          </a:p>
        </p:txBody>
      </p:sp>
      <p:pic>
        <p:nvPicPr>
          <p:cNvPr id="9" name="Image 0" descr="/tmp/claude-0/-home-user-most/9fc1ec31-3c64-5a82-aadb-ddb23fff6e53/scratchpad/assets/lobb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60120"/>
            <a:ext cx="6949440" cy="39136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709160" y="52578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4 446,9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м²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56784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ПЛОЩАДЬ ПЕРВОГО ЭТАЖА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52578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56784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ПЕРВОГО ЭТАЖА В ОБЩЕЙ ПЛОЩАДИ</a:t>
            </a:r>
            <a:endParaRPr lang="en-US" sz="800" dirty="0"/>
          </a:p>
        </p:txBody>
      </p:sp>
      <p:pic>
        <p:nvPicPr>
          <p:cNvPr id="14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НОМЕРНОЙ ФОНД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Этажи со 2-го по 5-й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ЁМКОСТЬ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НОМЕРНОЙ ФОНД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Этажи со 2-го по 5-й полностью отданы номерам: 12 693,32 м², или 74,1 % общей площади здания.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5603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12 693,32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м²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98094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ПЛОЩАДЬ НОМЕРНОГО ФОНДА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56616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3 173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м²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98678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ПЛОЩАДЬ ЭТАЖА НОМЕРНОГО КОРПУСА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457200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470001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ЁМКОСТЬ — ПРЕДВАРИТЕЛЬНАЯ ОЦЕНКА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95604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 – 300</a:t>
            </a:r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номеров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41324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от 12 693,32 м² при полезной площади этажа около 65 % и номере 28–32 м². Точная ёмкость определяется планировками на стадии эскизного проекта.</a:t>
            </a:r>
            <a:endParaRPr lang="en-US" sz="900" dirty="0"/>
          </a:p>
        </p:txBody>
      </p:sp>
      <p:pic>
        <p:nvPicPr>
          <p:cNvPr id="16" name="Image 0" descr="/tmp/claude-0/-home-user-most/9fc1ec31-3c64-5a82-aadb-ddb23fff6e53/scratchpad/assets/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60120"/>
            <a:ext cx="6949440" cy="463600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709160" y="566928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Типовой номер: балкон на озеленённой ленте фасада, раскрытие на город и хребет.</a:t>
            </a:r>
            <a:endParaRPr lang="en-US" sz="800" dirty="0"/>
          </a:p>
        </p:txBody>
      </p:sp>
      <p:pic>
        <p:nvPicPr>
          <p:cNvPr id="18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БЛАГОУСТРОЙСТВО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Озеленение и открытые пространства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ФРАГМЕНТ ГЕНПЛАНА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ТРЕТИ УЧАСТКА ОТКРЫТЫ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 пятна застройки остаётся 9 058,89 м² — 64,7 % участка. Это площадь под проезды, площадки и озеленение.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5603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9 058,89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м²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98094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ТЕРРИТОРИЯ ВНЕ ПЯТНА ЗАСТРОЙКИ — 64,7 %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74904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Рядовая посадка деревьев по всему периметру: зелёная полоса отделяет застройку от границ участка и улицы.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Внутренний двор между корпусами — защищённое от улицы пространство отдыха.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Озеленение на террасах продолжает партер вверх по фасаду.</a:t>
            </a:r>
            <a:endParaRPr lang="en-US" sz="1050" dirty="0"/>
          </a:p>
        </p:txBody>
      </p:sp>
      <p:pic>
        <p:nvPicPr>
          <p:cNvPr id="12" name="Image 0" descr="/tmp/claude-0/-home-user-most/9fc1ec31-3c64-5a82-aadb-ddb23fff6e53/scratchpad/assets/plan_gre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60120"/>
            <a:ext cx="6949440" cy="46360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709160" y="566928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Зелёная полоса между кольцевым проездом и границей участка.</a:t>
            </a:r>
            <a:endParaRPr lang="en-US" sz="800" dirty="0"/>
          </a:p>
        </p:txBody>
      </p:sp>
      <p:pic>
        <p:nvPicPr>
          <p:cNvPr id="14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Въезды, проезды и хранение автомобилей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УЗЕЛ ВЪЕЗДА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ОБСЛУЖИВАНИЕ УЧАСТКА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3794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узла въезда: северо-восточный со стороны ул. Бухтарминской и юго-западный со стороны внутриквартального проезда. Оба вынесены от перекрёстка.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Рампа в подземный паркинг — в юго-западной части, уходит под основной корпус; на въезде шлагбаум.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Наземные гостевые места вынесены на западную кромку, вдоль улицы — гостевой транспорт не заезжает во двор.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Кольцевой проезд вокруг застройки: подъезд ко всем входам, разгрузка и проезд пожарной техники.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420624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33425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МАШИНО-МЕСТА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59028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Подземный паркинг под основным корпусом и наземные гостевые места вдоль западной границы. Итоговое количество определяется расчётом по нормативу к утверждённой ёмкости номерного фонда.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5440680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4D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54406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вписать: ____ машино-мест</a:t>
            </a:r>
            <a:endParaRPr lang="en-US" sz="900" dirty="0"/>
          </a:p>
        </p:txBody>
      </p:sp>
      <p:pic>
        <p:nvPicPr>
          <p:cNvPr id="12" name="Image 0" descr="/tmp/claude-0/-home-user-most/9fc1ec31-3c64-5a82-aadb-ddb23fff6e53/scratchpad/assets/plan_transp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60120"/>
            <a:ext cx="6949440" cy="46360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709160" y="566928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Юго-западный узел: рампа в подземный паркинг под корпусом и ряд наземных гостевых мест вдоль улицы.</a:t>
            </a:r>
            <a:endParaRPr lang="en-US" sz="800" dirty="0"/>
          </a:p>
        </p:txBody>
      </p:sp>
      <p:pic>
        <p:nvPicPr>
          <p:cNvPr id="14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РЕГЛАМЕНТЫ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проработки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НОРМЫ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ПОДТВЕРЖДЕНО ГЕНПЛАНОМ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3949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627632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Отступы от границ участка: 6,00 м с запада и юга, 3,00 м с северо-востока, 17,49 м с востока — вынесены на чертёж.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Этажность: 5 этажей по обоим корпусам, без превышения высотных отметок соседней застройки.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Пожарный проезд: замкнутый кольцевой проезд вокруг пятна застройки.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 застройки: 35,3 % участка, коэффициент использования территории 1,22.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Озеленение: рядовая посадка деревьев по всему периметру участка.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0515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УТОЧНЯЕТСЯ НА СТАДИИ ЭП И ПСД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417320"/>
            <a:ext cx="53949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627632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машино-мест по нормативу для гостиниц, от утверждённой ёмкости номерного фонда.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 территории раздельно: озеленение, покрытия, проезды, площадки.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Инженерное обеспечение: технические условия на воду, канализацию, тепло и электроснабжение.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Расчёты инсоляции и шума по отношению к смежным землепользованиям.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Планировочные решения этажей и итоговая ёмкость номерного фонда.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892040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5029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ПОКАЗАТЕЛИ, ПРОВЕРЯЕМЫЕ ГРАДОСТРОИТЕЛЬНЫМ СОВЕТОМ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5349240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этажей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769864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ЭТАЖНОСТЬ ОБОИХ КОРПУСОВ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298698" y="5349240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35,3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298698" y="5769864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 ЗАСТРОЙКИ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094476" y="5349240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</a:t>
            </a:r>
            <a:pPr indent="0" marL="0">
              <a:buNone/>
            </a:pP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094476" y="5769864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 ИСПОЛЬЗОВАНИЯ ТЕРРИТОРИИ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890254" y="5349240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64,7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890254" y="5769864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СВОБОДНО ОТ ЗАСТРОЙКИ</a:t>
            </a:r>
            <a:endParaRPr lang="en-US" sz="800" dirty="0"/>
          </a:p>
        </p:txBody>
      </p:sp>
      <p:pic>
        <p:nvPicPr>
          <p:cNvPr id="21" name="Image 0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Социально-экономический эффект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ГОРОДА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 – 300</a:t>
            </a:r>
            <a:pPr indent="0" marL="0">
              <a:buNone/>
            </a:pP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721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НОМЕРОВ 4 ЗВЕЗДЫ К ФОНДУ АЛМАТЫ (ОЦЕНКА)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0515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– 210</a:t>
            </a:r>
            <a:pPr indent="0" marL="0">
              <a:buNone/>
            </a:pP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14721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ПОСТОЯННЫХ РАБОЧИХ МЕСТ В ГОСТИНИЦЕ (ОЦЕНКА)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0515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17 140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м²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14721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НОВЫХ ПЛОЩАДЕЙ В НАЛОГООБЛАГАЕМУЮ БАЗУ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542032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ранее неиспользуемого участка: свободная территория в деловом окружении получает капитальную функцию без сноса и расселения.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Круглогодичный турпоток: деловой сегмент зимой и осенью, горный и событийный туризм летом.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Общественные функции для района: рестораны и конференц-зона первого этажа работают на город, а не только на постояльцев.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4 446,9 м² общественного первого этажа — новая точка притяжения в квартале, доступная не только постояльцам.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542032"/>
            <a:ext cx="48582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ПОКАЗАТЕЛИ, КОТОРЫЕ ВНОСИТ ЗАКАЗЧИК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907792"/>
            <a:ext cx="301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инвестиций, млрд ₸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778648" y="2907792"/>
            <a:ext cx="1846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3218688"/>
            <a:ext cx="485820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3419856"/>
            <a:ext cx="301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Налоговые поступления в год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778648" y="3419856"/>
            <a:ext cx="1846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3730752"/>
            <a:ext cx="485820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931920"/>
            <a:ext cx="301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Рабочие места на период строительства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778648" y="3931920"/>
            <a:ext cx="1846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4242816"/>
            <a:ext cx="485820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4443984"/>
            <a:ext cx="301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Гостиничный оператор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778648" y="4443984"/>
            <a:ext cx="1846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4754880"/>
            <a:ext cx="485820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4956048"/>
            <a:ext cx="301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Планируемый срок ввода в эксплуатацию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778648" y="4956048"/>
            <a:ext cx="1846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5266944"/>
            <a:ext cx="485820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" y="58978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Ёмкость номерного фонда и численность персонала указаны оценочно и подлежат уточнению после утверждения планировочных решений.</a:t>
            </a:r>
            <a:endParaRPr lang="en-US" sz="850" dirty="0"/>
          </a:p>
        </p:txBody>
      </p:sp>
      <p:pic>
        <p:nvPicPr>
          <p:cNvPr id="30" name="Image 0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" y="658368"/>
            <a:ext cx="153619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65836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bureau</a:t>
            </a:r>
            <a:endParaRPr lang="en-US" sz="950" dirty="0"/>
          </a:p>
        </p:txBody>
      </p:sp>
      <p:pic>
        <p:nvPicPr>
          <p:cNvPr id="4" name="Image 0" descr="/tmp/claude-0/-home-user-most/9fc1ec31-3c64-5a82-aadb-ddb23fff6e53/scratchpad/assets/qr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962656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78408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architects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kazakhstan/almaty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555687" y="3520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most-a.com</a:t>
            </a:r>
            <a:endParaRPr lang="en-US" sz="8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e-mail: info@most-a.com</a:t>
            </a:r>
            <a:endParaRPr lang="en-US" sz="8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(771) 733 77 00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92344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4D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92344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MOST Architects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Гостиничный комплекс — г. Алматы, ул. Бухтарминская</dc:title>
  <dc:subject>PptxGenJS Presentation</dc:subject>
  <dc:creator>MOST Architects</dc:creator>
  <cp:lastModifiedBy>MOST Architects</cp:lastModifiedBy>
  <cp:revision>1</cp:revision>
  <dcterms:created xsi:type="dcterms:W3CDTF">2026-08-28T18:09:24Z</dcterms:created>
  <dcterms:modified xsi:type="dcterms:W3CDTF">2026-08-28T18:09:24Z</dcterms:modified>
</cp:coreProperties>
</file>