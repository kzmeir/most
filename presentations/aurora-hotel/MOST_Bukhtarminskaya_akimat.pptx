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concept. Объект: гостиничный комплекс, ул. Бухтарминская, участок 1,4 га.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мысль: город ничего не теряет. Территория пустая, никого не сносим и не расселяем.\nАЗС: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 не произвольная — она выведена из силуэта, который виден с участка.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Конкретика посадки. Отступы вынесены на чертёж генплана, не пересчитывались.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фасад.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Номер.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Общественная терраса.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9 058,89 = 14 000 − 4 941,11. В эту площадь входят и проезды — отдельную долю озеленения не называть.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должна читаться за пять секунд: два въезда, паркинг, кольцевой проезд.\nЧисло машино-мест по чертежу не считается — подтвердить у заказчика и вписать до показа.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ТЭП сознательно стоят здесь, а не в начале: сначала история, потом цифры.\nГотовность к вопросу: 27 521,32 = 22 580,21 надземной + 4 941,11 подземного этажа.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Финальный содержательный слайд. Здесь бить цифрами.\n170–210 рабочих мест — расчёт от 0,6–0,7 сотрудника на номер при 280–300 номерах. Это оценка, не факт.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данных нет — слайд лучше удалить, чем показывать пустым.\nДля акимата эти цифры часто важнее половины архитектурной части.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историю.\nПоказывать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презентация для акимата г. Алматы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Существующая ситуация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plan_ren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0120"/>
            <a:ext cx="6766560" cy="5074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144768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Синим — граница участка, красным — границы смежных землепользований.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Силуэт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914400"/>
            <a:ext cx="7498080" cy="50017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14630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ОТ СИЛУЭТА ГОР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965960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Панорама хребта, которая открывается с участка, — исходная линия проекта. Ломаная гряда в три шага сглаживается до горизонтальных лент перекрытий.</a:t>
            </a:r>
            <a:endParaRPr lang="en-US" sz="1200" dirty="0"/>
          </a:p>
        </p:txBody>
      </p:sp>
      <p:pic>
        <p:nvPicPr>
          <p:cNvPr id="8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genplan_s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6053328" cy="5212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03720" y="1051560"/>
            <a:ext cx="4721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ЗАПАД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083982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83982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СЕВЕРО-ВОСТОК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9264244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17,49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264244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ВОСТОК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10444505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444505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6903720" y="214884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03720" y="2350008"/>
            <a:ext cx="4721047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корпуса поставлены вдоль длинных сторон участка и раскрыты во двор.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обоих корпусов: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защищён от улицы.</a:t>
            </a:r>
            <a:endParaRPr lang="en-US" sz="1100" dirty="0"/>
          </a:p>
        </p:txBody>
      </p:sp>
      <p:pic>
        <p:nvPicPr>
          <p:cNvPr id="17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confere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БЛАГОУСТРОЙСТВО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Открытая территория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ФРАГМЕНТ ГЕНПЛАНА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7160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64,7</a:t>
            </a:r>
            <a:pPr indent="0" marL="0">
              <a:buNone/>
            </a:pPr>
            <a:r>
              <a:rPr lang="en-US" sz="30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060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ТЕРРИТОРИИ ВНЕ ПЯТНА ЗАСТРОЙКИ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88950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9 058,89 м² из 14 000 м²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429000"/>
            <a:ext cx="434340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3630168"/>
            <a:ext cx="4343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— защищённое от улицы пространство.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 на террасах продолжает партер вверх по фасаду.</a:t>
            </a:r>
            <a:endParaRPr lang="en-US" sz="1100" dirty="0"/>
          </a:p>
        </p:txBody>
      </p:sp>
      <p:pic>
        <p:nvPicPr>
          <p:cNvPr id="10" name="Image 0" descr="/tmp/claude-0/-home-user-most/9fc1ec31-3c64-5a82-aadb-ddb23fff6e53/scratchpad/assets/plan_gre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234440"/>
            <a:ext cx="6263640" cy="424281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394960" y="5596128"/>
            <a:ext cx="6263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Зелёная полоса между кольцевым проездом и границей участка.</a:t>
            </a:r>
            <a:endParaRPr lang="en-US" sz="800" dirty="0"/>
          </a:p>
        </p:txBody>
      </p:sp>
      <p:pic>
        <p:nvPicPr>
          <p:cNvPr id="12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ТРАНСПОРТ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обслуживания участка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plan_ren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7196328" cy="5394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846256" y="3440887"/>
            <a:ext cx="292608" cy="292608"/>
          </a:xfrm>
          <a:prstGeom prst="ellipse">
            <a:avLst/>
          </a:prstGeom>
          <a:solidFill>
            <a:srgbClr val="FF4D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46256" y="344088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242054" y="3818534"/>
            <a:ext cx="292608" cy="292608"/>
          </a:xfrm>
          <a:prstGeom prst="ellipse">
            <a:avLst/>
          </a:prstGeom>
          <a:solidFill>
            <a:srgbClr val="FF4D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42054" y="38185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839349" y="4304081"/>
            <a:ext cx="292608" cy="292608"/>
          </a:xfrm>
          <a:prstGeom prst="ellipse">
            <a:avLst/>
          </a:prstGeom>
          <a:solidFill>
            <a:srgbClr val="FF4D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39349" y="430408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92440" y="1069848"/>
            <a:ext cx="274320" cy="274320"/>
          </a:xfrm>
          <a:prstGeom prst="ellipse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92440" y="1069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513064" y="1051560"/>
            <a:ext cx="3111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гостевые места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513064" y="1325880"/>
            <a:ext cx="31117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 вдоль западной кромки, со стороны улицы. Гостевой транспорт не заезжает во двор.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092440" y="2240280"/>
            <a:ext cx="274320" cy="274320"/>
          </a:xfrm>
          <a:prstGeom prst="ellipse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924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513064" y="2221992"/>
            <a:ext cx="3111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Юго-западный узел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513064" y="2496312"/>
            <a:ext cx="31117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Въезд с внутриквартального проезда, зона высадки и рампа в подземный паркинг под корпусом.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092440" y="3410712"/>
            <a:ext cx="274320" cy="274320"/>
          </a:xfrm>
          <a:prstGeom prst="ellipse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92440" y="3410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513064" y="3392424"/>
            <a:ext cx="3111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13064" y="3666744"/>
            <a:ext cx="31117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 вокруг застройки: подъезд ко всем входам, разгрузка и проезд пожарной техники.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8092440" y="5870448"/>
            <a:ext cx="265176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92440" y="58704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вписать: ____ машино-мест</a:t>
            </a:r>
            <a:endParaRPr lang="en-US" sz="900" dirty="0"/>
          </a:p>
        </p:txBody>
      </p:sp>
      <p:pic>
        <p:nvPicPr>
          <p:cNvPr id="2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ПЛЮС ПОДЗЕМНЫЙ ЭТАЖ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– 300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27 521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ПЛОЩАДЬ ЗДАНИЯ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71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971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4 941,11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71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35,3 %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30098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4472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4472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19,7 %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77647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92277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номеров, нетто (этажи 2–5)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9227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12 693,32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9227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56,2 % надземной площади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25196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39826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 и узлы этажей 2–5 (расчётно)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4398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5 439,99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43982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0,70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72744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8737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Подземный этаж — паркинг (расчётно)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8737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4 941,11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873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пятну застройки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520293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53492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5349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22 580,21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349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678424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Строки с пометкой «расчётно» получены расчётом бюро: в исходных ТЭП генплана они не выделены.</a:t>
            </a:r>
            <a:endParaRPr lang="en-US" sz="800" dirty="0"/>
          </a:p>
        </p:txBody>
      </p:sp>
      <p:pic>
        <p:nvPicPr>
          <p:cNvPr id="39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АЛМАТЫ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71600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– 300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56816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spc="40" kern="0" dirty="0">
                <a:solidFill>
                  <a:srgbClr val="A9A9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КАТЕГОРИИ 4 ЗВЕЗДЫ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298698" y="1371600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– 210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3298698" y="1956816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spc="40" kern="0" dirty="0">
                <a:solidFill>
                  <a:srgbClr val="A9A9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ПОСТОЯННЫХ РАБОЧИХ МЕСТ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094476" y="1371600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27 521</a:t>
            </a:r>
            <a:pPr indent="0" marL="0">
              <a:buNone/>
            </a:pPr>
            <a:r>
              <a:rPr lang="en-US" sz="14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6094476" y="1956816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spc="40" kern="0" dirty="0">
                <a:solidFill>
                  <a:srgbClr val="A9A9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НОВЫХ ПЛОЩАДЕЙ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890254" y="1371600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</a:t>
            </a:r>
            <a:pPr indent="0" marL="0">
              <a:buNone/>
            </a:pPr>
            <a:r>
              <a:rPr lang="en-US" sz="14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890254" y="1956816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spc="40" kern="0" dirty="0">
                <a:solidFill>
                  <a:srgbClr val="A9A9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ОБЩЕСТВЕННЫХ ФУНКЦИЙ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2880360"/>
            <a:ext cx="11183112" cy="7315"/>
          </a:xfrm>
          <a:prstGeom prst="rect">
            <a:avLst/>
          </a:prstGeom>
          <a:solidFill>
            <a:srgbClr val="3A3A38"/>
          </a:solidFill>
          <a:ln w="12700">
            <a:solidFill>
              <a:srgbClr val="3A3A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3200400"/>
            <a:ext cx="5394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D8D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Пустующий участок в деловом поясе получает капитальную функцию без сноса и расселения.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D8D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 и конференц-зона первого этажа работают на город, а не только на постояльцев.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D8D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Круглогодичная загрузка: деловой сегмент зимой, горный и событийный туризм летом.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20040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не перекрывает панораму хребта: пять этажей вместо вертикальной доминанты.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48056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трети участка — 9 058,89 м² — остаются открытой территорией.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94360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 номерного фонда и численность персонала указаны оценочно и уточняются после утверждения планировочных решений.</a:t>
            </a:r>
            <a:endParaRPr lang="en-US" sz="800" dirty="0"/>
          </a:p>
        </p:txBody>
      </p:sp>
      <p:pic>
        <p:nvPicPr>
          <p:cNvPr id="16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A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РЕАЛИЗАЦИЯ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Инвестиции и сроки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ПОКАЗАТЕЛИ, КОТОРЫЕ ВНОСИТ ЗАКАЗЧИК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459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на стадии концепции. Экономические параметры подтверждаются инвестором и вносятся до показа.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инвестиций, млрд ₸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3232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32735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Налоговые поступления в год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32735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62102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380390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Рабочие места на период строительства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8039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15137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433425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оператор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43342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468172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" y="4864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Начало строительства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4864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21208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Ввод в эксплуатацию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5394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574243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pic>
        <p:nvPicPr>
          <p:cNvPr id="25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границ: 6,00 м с запада и юга, 3,00 м с северо-востока, 17,49 м с востока.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обоим корпусам,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35,3 %, коэффициент использования территории 1,61.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для гостиниц от утверждённой ёмкости номерного фонда.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Расчёты инсоляции и шума по отношению к смежным землепользованиям.</a:t>
            </a:r>
            <a:endParaRPr lang="en-US" sz="1050" dirty="0"/>
          </a:p>
        </p:txBody>
      </p:sp>
      <p:pic>
        <p:nvPicPr>
          <p:cNvPr id="11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tmp/claude-0/-home-user-most/9fc1ec31-3c64-5a82-aadb-ddb23fff6e53/scratchpad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2026-08-28T20:01:45Z</dcterms:created>
  <dcterms:modified xsi:type="dcterms:W3CDTF">2026-08-28T20:01:45Z</dcterms:modified>
</cp:coreProperties>
</file>