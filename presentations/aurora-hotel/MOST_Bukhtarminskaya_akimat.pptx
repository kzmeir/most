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комплекс, ул. Бухтарминская, участок 1,4 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расселяем.\nАЗС: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 не произвольная — она выведена из силуэта, который виден с участка.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генплана, не пересчитывались.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9 058,89 = 14 000 − 4 941,11. В эту площадь входят и проезды — отдельную долю озеленения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должна читаться за пять секунд: два въезда, паркинг, кольцевой проезд.\nЧисло машино-мест по чертежу не считается — подтвердить у заказчика и вписать до показа.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цифры.\nГотовность к вопросу: 27 521,32 = 22 580,21 надземной + 4 941,11 подземного этажа.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содержательный слайд. Здесь бить цифрами.\n170–210 рабочих мест — расчёт от 0,6–0,7 сотрудника на номер при 280–300 номерах. Это оценка, не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данных нет — слайд лучше удалить, чем показывать пустым.\nДля акимата эти цифры часто важнее половины архитектурной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историю.\nПоказывать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Существующая ситуация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Силуэт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914400"/>
            <a:ext cx="7498080" cy="5001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9659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Панорама хребта, которая открывается с участка, — исходная линия проекта. Ломаная гряда в три шага сглаживается до горизонтальных лент перекрытий.</a:t>
            </a:r>
            <a:endParaRPr lang="en-US" sz="1200" dirty="0"/>
          </a:p>
        </p:txBody>
      </p:sp>
      <p:pic>
        <p:nvPicPr>
          <p:cNvPr id="8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genplan_s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корпуса поставлены вдоль длинных сторон участка и раскрыты во двор.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обоих корпусов: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защищён от улицы.</a:t>
            </a:r>
            <a:endParaRPr lang="en-US" sz="1100" dirty="0"/>
          </a:p>
        </p:txBody>
      </p:sp>
      <p:pic>
        <p:nvPicPr>
          <p:cNvPr id="17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st/9fc1ec31-3c64-5a82-aadb-ddb23fff6e53/scratchpad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Открытая территория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64,7</a:t>
            </a:r>
            <a:pPr indent="0" marL="0">
              <a:buNone/>
            </a:pPr>
            <a:r>
              <a:rPr lang="en-US" sz="30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060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ТЕРРИТОРИИ ВНЕ ПЯТНА ЗАСТРОЙКИ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895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9 058,89 м² из 14 000 м²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29000"/>
            <a:ext cx="434340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630168"/>
            <a:ext cx="4343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между корпусами — защищённое от улицы пространство.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Озеленение на террасах продолжает партер вверх по фасаду.</a:t>
            </a:r>
            <a:endParaRPr lang="en-US" sz="1100" dirty="0"/>
          </a:p>
        </p:txBody>
      </p:sp>
      <p:pic>
        <p:nvPicPr>
          <p:cNvPr id="10" name="Image 0" descr="/tmp/claude-0/-home-user-most/9fc1ec31-3c64-5a82-aadb-ddb23fff6e53/scratchpad/assets/plan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34440"/>
            <a:ext cx="6263640" cy="424281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94960" y="5596128"/>
            <a:ext cx="6263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Зелёная полоса между кольцевым проездом и границей участка.</a:t>
            </a:r>
            <a:endParaRPr lang="en-US" sz="800" dirty="0"/>
          </a:p>
        </p:txBody>
      </p:sp>
      <p:pic>
        <p:nvPicPr>
          <p:cNvPr id="12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обслуживания участка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tmp/claude-0/-home-user-most/9fc1ec31-3c64-5a82-aadb-ddb23fff6e53/scratchpad/assets/plan_ren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7196328" cy="539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46256" y="3440887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46256" y="344088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242054" y="3818534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2054" y="38185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839349" y="4304081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839349" y="43040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1069848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1069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513064" y="1051560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гостевые места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13064" y="1325880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вдоль западной кромки, со стороны улицы. Гостевой транспорт не заезжает во двор.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092440" y="2240280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924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513064" y="2221992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Юго-западный узел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513064" y="2496312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Въезд с внутриквартального проезда, зона высадки и рампа в подземный паркинг под корпусом.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092440" y="3410712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92440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513064" y="3392424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13064" y="3666744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 вокруг застройки: подъезд ко всем входам, разгрузка и проезд пожарной техники.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092440" y="5870448"/>
            <a:ext cx="265176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92440" y="587044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вписать: ____ машино-мест</a:t>
            </a:r>
            <a:endParaRPr lang="en-US" sz="900" dirty="0"/>
          </a:p>
        </p:txBody>
      </p:sp>
      <p:pic>
        <p:nvPicPr>
          <p:cNvPr id="26" name="Image 1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ПЛЮС ПОДЗЕМНЫЙ ЭТАЖ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ПЛОЩАДЬ ЗДАНИЯ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71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4 941,11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35,3 %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3009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447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447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7764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9227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номеров,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9227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12 693,32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9227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56,2 % надземной площади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25196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3982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 и узлы этажей 2–5 (расчётно)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5 439,99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3982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0,70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7274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8737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этаж — паркинг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4 941,11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873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пятну застройки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520293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3492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349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22 580,21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349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678424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Строки с пометкой «расчётно» получены расчётом бюро: в исходных ТЭП генплана они не выделены.</a:t>
            </a:r>
            <a:endParaRPr lang="en-US" sz="800" dirty="0"/>
          </a:p>
        </p:txBody>
      </p:sp>
      <p:pic>
        <p:nvPicPr>
          <p:cNvPr id="39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АЛМАТЫ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– 300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98698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– 210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3298698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094476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27 521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094476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НОВЫХ ПЛОЩАДЕЙ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890254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4 446,9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890254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ОБЩЕСТВЕННЫХ ФУНКЦИЙ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880360"/>
            <a:ext cx="11183112" cy="7315"/>
          </a:xfrm>
          <a:prstGeom prst="rect">
            <a:avLst/>
          </a:prstGeom>
          <a:solidFill>
            <a:srgbClr val="3A3A38"/>
          </a:solidFill>
          <a:ln w="12700">
            <a:solidFill>
              <a:srgbClr val="3A3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2004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Пустующий участок в деловом поясе получает капитальную функцию без сноса и расселения.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 и конференц-зона первого этажа работают на город, а не только на постояльцев.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Круглогодичная загрузка: деловой сегмент зимой, горный и событийный туризм летом.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2004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не перекрывает панораму хребта: пять этажей вместо вертикальной доминанты.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4805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— 9 058,89 м² — остаются открытой территорией.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94360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 номерного фонда и численность персонала указаны оценочно и уточняются после утверждения планировочных решений.</a:t>
            </a:r>
            <a:endParaRPr lang="en-US" sz="800" dirty="0"/>
          </a:p>
        </p:txBody>
      </p:sp>
      <p:pic>
        <p:nvPicPr>
          <p:cNvPr id="16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Инвестиции и сроки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на стадии концепции. Экономические параметры подтверждаются инвестором и вносятся до показа.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3273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3273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2102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80390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1513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43342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43342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8172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4864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Начало строительства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2120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в эксплуатацию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5394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574243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pic>
        <p:nvPicPr>
          <p:cNvPr id="25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3,00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обоим корпусам,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35,3 %, коэффициент использования территории 1,61.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для гостиниц от утверждённой ёмкости номерного фонда.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Расчёты инсоляции и шума по отношению к смежным землепользованиям.</a:t>
            </a:r>
            <a:endParaRPr lang="en-US" sz="1050" dirty="0"/>
          </a:p>
        </p:txBody>
      </p:sp>
      <p:pic>
        <p:nvPicPr>
          <p:cNvPr id="11" name="Image 0" descr="/tmp/claude-0/-home-user-most/9fc1ec31-3c64-5a82-aadb-ddb23fff6e53/scratchpad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tmp/claude-0/-home-user-most/9fc1ec31-3c64-5a82-aadb-ddb23fff6e53/scratchpad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2026-08-28T23:00:43Z</dcterms:created>
  <dcterms:modified xsi:type="dcterms:W3CDTF">2026-08-28T23:00:43Z</dcterms:modified>
</cp:coreProperties>
</file>