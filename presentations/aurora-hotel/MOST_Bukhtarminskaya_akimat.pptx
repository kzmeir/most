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Стадия — concept (отмечена на нижней шкале).
Объект: гостиничный комплекс 4 звезды, ул. Бухтарминская, участок 1,4 га, два корпуса по 5 этажей, общая площадь 17 140,22 м².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Красным на схеме — границы смежных землепользований, синим — граница участка.
Район города и кадастровый номер — данные заказчика, вписать до показа.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Отступы 6,00 / 3,00 / 17,49 / 6,00 м вынесены на чертёж генплана.
Типовой вопрос — пожарный проезд: контур замкнут вокруг пятна застройки.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значения таблицы — из ТЭП генплана, без пересчёта.
Коэффициенты: 4941,11/14000 = 35,3 %; 17140,22/14000 = 1,22; 14000−4941,11 = 9 058,89 м² = 64,7 %.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Комплекс со стороны главного входа: круговой подъезд, входной портик, два корпуса по 5 этажей.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Вестибюль двойной высоты с раскрытием на панораму хребта.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номер раскрыт на панораму города и Заилийского Алатау, с собственным балконом на озеленённой ленте фасада.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Озеленённые террасы на лентах балконов, раскрытие на город и горы.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аргумент для градсовета: сознательный отказ от высотности. При 1,4 га можно было поставить башню — вместо этого пять этажей и раскрытие видов.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4 446,9 м² — из ТЭП. 4446,9/17140,22 = 25,9 % ≈ 26 %.
Набор общественных функций — предложение бюро; окончательный состав за заказчиком и оператором.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ВАЖНО: 260–300 номеров — оценка бюро, а не утверждённая цифра. Так и формулировать.
База: 12 693,32 м² × 0,65 ≈ 8 250 м² полезной площади; ÷ 28–32 м² на номер. 12 693,32 / 17 140,22 = 74,1 %; 12 693,32 / 4 этажа = 3 173,3 м².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9 058,89 м² = 14 000 − 4 941,11. Это территория вне пятна застройки, включая проезды.
Отдельную долю озеленения не называть — баланс территории даётся на стадии ЭП.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ОСТОРОЖНО: на генплане парковочные места не размечены — видна только рампа въезда с запада. Не утверждать наличие подземного паркинга, пока это не подтверждено заказчиком.
Число машино-мест вписать до показа — это первый вопрос акимата.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Левая колонка — только то, что читается с генплана, ничего не приписано.
Правая — честный перечень открытых вопросов. Для градсовета это сильнее, чем заявление о полном соответствии всем нормам.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ВНИМАНИЕ: 160–210 рабочих мест — расчёт от отраслевого ориентира 0,6–0,7 сотрудника на номер для гостиниц 4 звезды, применённого к оценке 260–300 номеров. Это оценка, не факт.
Четыре поля справа обязательно заполнить данными заказчика до показа.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Контактный лист. QR ведёт на most-a.com.
Устно на этом слайде — три запроса к акимату: одобрить архитектурно-градостроительную концепцию, выдать АПЗ для перехода к эскизному проекту, определить технические условия на подключение к инженерным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864" y="3063240"/>
            <a:ext cx="649224" cy="722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презентация для акимата г. Алматы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август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25216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25216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69968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9968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masterplan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4720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4720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59472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59472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plan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Расположение и градостроительный контекст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genplan_contex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68680"/>
            <a:ext cx="6053328" cy="5669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03720" y="896112"/>
            <a:ext cx="47210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расположен вдоль ул. Бухтарминской и имеет форму вытянутого треугольника. С северо-востока он выходит на улицу, с запада и юга ограничен внутриквартальными проездами.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205740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03720" y="2240280"/>
            <a:ext cx="4721047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Территория свободна от капитальной застройки — снос и расселение не требуются.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Окружение деловое и производственное: АЗС, склады, коммерческие объекты. Жилая застройка не примыкает вплотную.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по всему периметру существующими проездами — новых транзитных связей не требуется.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Прямой выход на ул. Бухтарминскую обеспечивает подъезд гостей и транспорта обслуживания.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903720" y="470916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03720" y="4892040"/>
            <a:ext cx="472104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903720" y="5312664"/>
            <a:ext cx="472104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ЗЕМЕЛЬНОГО УЧАСТКА</a:t>
            </a:r>
            <a:endParaRPr lang="en-US" sz="800" dirty="0"/>
          </a:p>
        </p:txBody>
      </p:sp>
      <p:pic>
        <p:nvPicPr>
          <p:cNvPr id="12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комплекса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genplan_s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6053328" cy="5212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03720" y="896112"/>
            <a:ext cx="472104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корпуса поставлены вдоль длинных сторон участка и раскрыты во двор. По периметру застройки — кольцевой проезд, между проездом и границей полоса озеленения.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92024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03720" y="2048256"/>
            <a:ext cx="4721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ЗАСТРОЙКИ ОТ ГРАНИЦ УЧАСТКА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6903720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903720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ЗАПАД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8083982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083982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СЕВЕРО-ВОСТОК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9264244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17,49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264244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ВОСТОК</a:t>
            </a:r>
            <a:endParaRPr lang="en-US" sz="750" dirty="0"/>
          </a:p>
        </p:txBody>
      </p:sp>
      <p:sp>
        <p:nvSpPr>
          <p:cNvPr id="15" name="Text 12"/>
          <p:cNvSpPr txBox="1"/>
          <p:nvPr/>
        </p:nvSpPr>
        <p:spPr>
          <a:xfrm>
            <a:off x="10444505" y="2322576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0444505" y="265176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ЮГ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6903720" y="310896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03720" y="3291840"/>
            <a:ext cx="4721047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обоих корпусов: подъезд ко всем входам и разворот пожарной техники.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Единый узел въезда организован в западной части участка, со стороны внутриквартального проезда.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 участка.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двор между корпусами защищён от улицы.</a:t>
            </a:r>
            <a:endParaRPr lang="en-US" sz="1050" dirty="0"/>
          </a:p>
        </p:txBody>
      </p:sp>
      <p:pic>
        <p:nvPicPr>
          <p:cNvPr id="19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Технико-экономические показатели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ОБЩИЕ ТЭП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 приведены по проекту генерального плана. Расчётные коэффициенты получены из них арифметически.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21488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33172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Застроено 35,3 % участка — 4 941,11 м² из 14 000 м².</a:t>
            </a:r>
            <a:endParaRPr lang="en-US" sz="100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использования территории 1,22 — 17 140,22 м² на 14 000 м².</a:t>
            </a:r>
            <a:endParaRPr lang="en-US" sz="100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 пятна застройки 9 058,89 м², или 64,7 % участка.</a:t>
            </a:r>
            <a:endParaRPr lang="en-US" sz="100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 занимает 74,1 % общей площади здания.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960120"/>
          <a:ext cx="69494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30" kern="0" dirty="0">
                          <a:solidFill>
                            <a:srgbClr val="FF4D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Показатель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30" kern="0" dirty="0">
                          <a:solidFill>
                            <a:srgbClr val="FF4D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Значение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земельного участка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 га (14 000 м²)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застройки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4 941,11 м²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1-го этажа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4 446,9 м²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Площадь номерного фонда (этажи 2–5)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12 693,32 м²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Общая площадь здания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17 140,22 м²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Этажность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этажей, два корпуса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127000" marB="1270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709160" y="443484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общие ТЭП генерального плана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5029200"/>
            <a:ext cx="213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35,3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5449824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ЗАСТРОЙКИ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7025640" y="5029200"/>
            <a:ext cx="213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1,22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7025640" y="5449824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ИСПОЛЬЗОВАНИЯ ТЕРРИТОРИИ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9342120" y="5029200"/>
            <a:ext cx="213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64,7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342120" y="5449824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СВОБОДНО ОТ ЗАСТРОЙКИ</a:t>
            </a:r>
            <a:endParaRPr lang="en-US" sz="800" dirty="0"/>
          </a:p>
        </p:txBody>
      </p:sp>
      <p:pic>
        <p:nvPicPr>
          <p:cNvPr id="17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Въездная группа со стороны ул. Бухтарминской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ВХОДНАЯ ГРУППА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и зона приёма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 с балконом верхнего яруса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terr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ОБЩЕСТВЕННЫЕ ПРОСТРАНСТВА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Терраса верхнего яруса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Объёмно-пространственное решение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ГОРИЗОНТАЛЬ ВМЕСТО ВЫСОТЫ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набран горизонтальными лентами перекрытий с плавными скруглениями. Пять этажей вместо башни: комплекс не спорит с панорамой гор и не перекрывает виды соседней застройки. Ленты балконов и террас озеленены по всей длине — зелень становится частью фасада, а не только партера.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65176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83464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Сомасштабность: 5 этажей — в габаритах окружающей застройки, без доминанты.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Озеленённые террасы на каждом ярусе балконов по всей длине фасада.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Раскрытие на горы: номера и общественные террасы ориентированы на панораму.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Входная группа выделена высоким портиком с круговым подъездом.</a:t>
            </a:r>
            <a:endParaRPr lang="en-US" sz="1050" dirty="0"/>
          </a:p>
        </p:txBody>
      </p:sp>
      <p:pic>
        <p:nvPicPr>
          <p:cNvPr id="9" name="Image 0" descr="/tmp/claude-0/-home-user-most/9fc1ec31-3c64-5a82-aadb-ddb23fff6e53/scratchpad/assets/faca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39136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709160" y="5257800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567842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ОБОИХ КОРПУСОВ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5257800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17 140,22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567842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ПЛОЩАДЬ ЗДАНИЯ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Функциональное зонирование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ЭТАЖ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ЭТАЖ — ОБЩЕСТВЕННЫЙ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 м² первого этажа — четверть всей площади комплекса — отданы функциям, которыми пользуются не только постояльцы.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51460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697480"/>
            <a:ext cx="3794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и стойка приёма: круговой подъезд, зона высадки, вестибюль двойной высоты.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Рестораны и кафе — работают на город, а не только на гостей гостиницы.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Конференц-зона для деловых мероприятий и городских событий.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Оздоровительный блок: СПА и фитнес. Состав уточняется на стадии эскизного проекта.</a:t>
            </a:r>
            <a:endParaRPr lang="en-US" sz="1050" dirty="0"/>
          </a:p>
        </p:txBody>
      </p:sp>
      <p:pic>
        <p:nvPicPr>
          <p:cNvPr id="9" name="Image 0" descr="/tmp/claude-0/-home-user-most/9fc1ec31-3c64-5a82-aadb-ddb23fff6e53/scratchpad/assets/lobb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39136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709160" y="525780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567842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ПЕРВОГО ЭТАЖА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525780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56784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ДОЛЯ ПЕРВОГО ЭТАЖА В ОБЩЕЙ ПЛОЩАДИ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Этажи со 2-го по 5-й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ЁМКОСТЬ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Этажи со 2-го по 5-й полностью отданы номерам: 12 693,32 м², или 74,1 % общей площади здания.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3774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56032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12 693,32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98094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НОМЕРНОГО ФОНДА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56616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3 173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398678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СРЕДНЯЯ ПЛОЩАДЬ ЭТАЖА НОМЕРНОГО КОРПУСА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02920" y="457200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470001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ЁМКОСТЬ — ПРЕДВАРИТЕЛЬНАЯ ОЦЕНКА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956048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260 – 300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номеров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5413248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от 12 693,32 м² при полезной площади этажа около 65 % и номере 28–32 м². Точная ёмкость определяется планировками на стадии эскизного проекта.</a:t>
            </a:r>
            <a:endParaRPr lang="en-US" sz="900" dirty="0"/>
          </a:p>
        </p:txBody>
      </p:sp>
      <p:pic>
        <p:nvPicPr>
          <p:cNvPr id="16" name="Image 0" descr="/tmp/claude-0/-home-user-most/9fc1ec31-3c64-5a82-aadb-ddb23fff6e53/scratchpad/assets/roo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463600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4709160" y="566928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Типовой номер: балкон на озеленённой ленте фасада, раскрытие на город и хребет.</a:t>
            </a:r>
            <a:endParaRPr lang="en-US" sz="800" dirty="0"/>
          </a:p>
        </p:txBody>
      </p:sp>
      <p:pic>
        <p:nvPicPr>
          <p:cNvPr id="18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БЛАГОУСТРОЙСТВО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Озеленение и открытые пространства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ФРАГМЕНТ ГЕНПЛАНА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 ТРЕТИ УЧАСТКА ОТКРЫТЫ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 пятна застройки остаётся 9 058,89 м² — 64,7 % участка. Это площадь под проезды, площадки и озеленение.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3774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56032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9 058,89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98094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ТЕРРИТОРИЯ ВНЕ ПЯТНА ЗАСТРОЙКИ — 64,7 %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02920" y="356616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74904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периметру: зелёная полоса отделяет застройку от границ участка и улицы.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двор между корпусами — защищённое от улицы пространство отдыха.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Озеленение на террасах продолжает партер вверх по фасаду.</a:t>
            </a:r>
            <a:endParaRPr lang="en-US" sz="1050" dirty="0"/>
          </a:p>
        </p:txBody>
      </p:sp>
      <p:pic>
        <p:nvPicPr>
          <p:cNvPr id="12" name="Image 0" descr="/tmp/claude-0/-home-user-most/9fc1ec31-3c64-5a82-aadb-ddb23fff6e53/scratchpad/assets/gre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463600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709160" y="566928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Фрагмент генплана: полоса озеленения между проездом и границей участка.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ТРАНСПОРТ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Въезды, проезды и хранение автомобилей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УЗЕЛ ВЪЕЗДА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ОБСЛУЖИВАНИЕ УЧАСТКА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71600"/>
            <a:ext cx="3794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Единый узел въезда в западной части участка, со стороны внутриквартального проезда, а не напрямую с ул. Бухтарминской — уличный поток не разрывается.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вокруг застройки: подъезд ко всем входам, разгрузка и проезд пожарной техники.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Круговой подъезд к главному входу отделён от хозяйственного двора.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420624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433425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МАШИНО-МЕСТА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59028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Количество и тип парковки определяются расчётом по нормативу к утверждённой ёмкости номерного фонда на стадии эскизного проекта.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5440680"/>
            <a:ext cx="24688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544068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вписать: ____ машино-мест</a:t>
            </a:r>
            <a:endParaRPr lang="en-US" sz="900" dirty="0"/>
          </a:p>
        </p:txBody>
      </p:sp>
      <p:pic>
        <p:nvPicPr>
          <p:cNvPr id="12" name="Image 0" descr="/tmp/claude-0/-home-user-most/9fc1ec31-3c64-5a82-aadb-ddb23fff6e53/scratchpad/assets/entran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60120"/>
            <a:ext cx="6949440" cy="463600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709160" y="566928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Фрагмент генплана: узел въезда в западной части участка.</a:t>
            </a:r>
            <a:endParaRPr lang="en-US" sz="800" dirty="0"/>
          </a:p>
        </p:txBody>
      </p:sp>
      <p:pic>
        <p:nvPicPr>
          <p:cNvPr id="14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РЕГЛАМЕНТЫ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 проработки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51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49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627632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участка: 6,00 м с запада и юга, 3,00 м с северо-востока, 17,49 м с востока — вынесены на чертёж.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Этажность: 5 этажей по обоим корпусам, без превышения высотных отметок соседней застройки.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Пожарный проезд: замкнутый кольцевой проезд вокруг пятна застройки.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застройки: 35,3 % участка, коэффициент использования территории 1,22.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Озеленение: 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1051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766560" y="1417320"/>
            <a:ext cx="53949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0" y="1627632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для гостиниц, от утверждённой ёмкости номерного фонда.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Инженерное обеспечение: технические условия на воду, канализацию, тепло и электроснабжение.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Расчёты инсоляции и шума по отношению к смежным землепользованиям.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500"/>
              </a:lnSpc>
              <a:spcAft>
                <a:spcPts val="11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Планировочные решения этажей и итоговая ёмкость номерного фонда.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489204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50292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ПОКАЗАТЕЛИ, ПРОВЕРЯЕМЫЕ ГРАДОСТРОИТЕЛЬНЫМ СОВЕТОМ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ОБОИХ КОРПУСОВ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3298698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35,3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3298698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ЗАСТРОЙКИ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6094476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1,22</a:t>
            </a:r>
            <a:pPr indent="0" marL="0">
              <a:buNone/>
            </a:pP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094476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ИСПОЛЬЗОВАНИЯ ТЕРРИТОРИИ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8890254" y="534924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64,7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8890254" y="5769864"/>
            <a:ext cx="2521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СВОБОДНО ОТ ЗАСТРОЙКИ</a:t>
            </a:r>
            <a:endParaRPr lang="en-US" sz="800" dirty="0"/>
          </a:p>
        </p:txBody>
      </p:sp>
      <p:pic>
        <p:nvPicPr>
          <p:cNvPr id="21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ЭФФЕКТ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Социально-экономический эффект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ГОРОДА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5156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260 – 300</a:t>
            </a:r>
            <a:pPr indent="0" marL="0">
              <a:buNone/>
            </a:pP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721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4 ЗВЕЗДЫ К ФОНДУ АЛМАТЫ (ОЦЕНКА)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05156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 – 210</a:t>
            </a:r>
            <a:pPr indent="0" marL="0">
              <a:buNone/>
            </a:pP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4160520" y="14721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ПОСТОЯННЫХ РАБОЧИХ МЕСТ В ГОСТИНИЦЕ (ОЦЕНКА)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105156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17 140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818120" y="14721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ВВОД НОВЫХ ПЛОЩАДЕЙ В НАЛОГООБЛАГАЕМУЮ БАЗУ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02920" y="228600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2542032"/>
            <a:ext cx="5577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Загрузка ранее неиспользуемого участка: свободная территория в деловом окружении получает капитальную функцию без сноса и расселения.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Круглогодичный турпоток: деловой сегмент зимой и осенью, горный и событийный туризм летом.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Общественные функции для района: рестораны и конференц-зона первого этажа работают на город, а не только на постояльцев.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3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 м² общественного первого этажа — новая точка притяжения в квартале, доступная не только постояльцам.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542032"/>
            <a:ext cx="48582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ПОКАЗАТЕЛИ, КОТОРЫЕ ВНОСИТ ЗАКАЗЧИК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907792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инвестиций, млрд ₸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778648" y="2907792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66560" y="3218688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3419856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Налоговые поступления в год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778648" y="3419856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66560" y="3730752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3931920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Рабочие места на период строительства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778648" y="3931920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766560" y="4242816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66560" y="4443984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оператор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778648" y="4443984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766560" y="4754880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0" y="4956048"/>
            <a:ext cx="301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Планируемый срок ввода в эксплуатацию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9778648" y="4956048"/>
            <a:ext cx="18461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66560" y="5266944"/>
            <a:ext cx="485820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2920" y="58978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Ёмкость номерного фонда и численность персонала указаны оценочно и подлежат уточнению после утверждения планировочных решений.</a:t>
            </a:r>
            <a:endParaRPr lang="en-US" sz="850" dirty="0"/>
          </a:p>
        </p:txBody>
      </p:sp>
      <p:pic>
        <p:nvPicPr>
          <p:cNvPr id="30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tmp/claude-0/-home-user-most/9fc1ec31-3c64-5a82-aadb-ddb23fff6e53/scratchpad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2026-08-28T17:33:39Z</dcterms:created>
  <dcterms:modified xsi:type="dcterms:W3CDTF">2026-08-28T17:33:39Z</dcterms:modified>
</cp:coreProperties>
</file>