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Титул. Стадия — concept. Объект: гостиничный комплекс с бизнес-центром, ул. Бухтарминская, участок 1,4 га.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Главная мысль: город ничего не теряет. Территория пустая, никого не сносим и не расселяем.
АЗС: подтвердить тип станции и установленный размер СЗЗ до градсовета.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Форма не произвольная — она выведена из силуэта, который виден с участка. Отсюда и отказ от высотности.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Конкретика посадки. Отступы вынесены на чертёж генплана от 31.08, не пересчитывались.
Отступ с северо-востока вырос с 3,00 до 15,33 м — если спросят про изменения, это главное улучшение посадки.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фасад.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Бизнес-центр — новая функция в составе комплекса, для акимата это постоянные рабочие места вне сезона.
Этажность на рендере и на генплане совпадает: пять этажей.
Расхождение по площади: пятно голубого объёма на генплане 866 м², это 3 464 м² на этажах 2–5 и около 2 770 м² полезной при КПД офиса 0,80. В ТЭП заявлено 4 895,11 м². Либо увеличивать пятно примерно до 1 530 м², либо поднимать этажность бизнес-центра, либо корректировать ТЭП. Снять до градсовета: цифра и картинка должны сходиться.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Лобби.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Лобби-лаунж.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Ресторан.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Конференц-зал.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Переговорная.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Коворкинг.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Фитнес.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Номер.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Общественная терраса.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Вечерний вид.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Уровень архитектуры одним листом. Не зачитывать состав — назвать две-три позиции.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9 018,84 = 14 000 − 4 981,16 застройки. В эту площадь входят и проезды со стоянками.
Слабое место: чистого озеленения 32,2 %, а покрытий 33,4 % — асфальта на участке больше, чем зелени. Причина — весь паркинг наземный. Если спросят: двухуровневый паркинг в зоне ограничений от АЗС снимает около 40 наземных карманов и поднимает озеленение под 39 %. Доли замерены по чертежу, официального баланса пока нет.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Схема должна читаться за пять секунд: стоянки по периметру и во дворе, кольцевой проезд.
Готовность к вопросу о нормативе: 102 места на 280 номеров плюс бизнес-центр 4 895 м². Потребность по укрупнённому расчёту 125–180 мест, то есть недобор. Не поднимать самому; если спросят — ответ: расчёт машино-мест выполняется на стадии эскизного проекта, резерв закрывается двухуровневым паркингом в зоне ограничений от АЗС.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ТЭП сознательно стоят здесь, а не в начале: сначала история, потом цифры.
Готовность к вопросу: 22 415,20 = 5 этажей × 4 483,04. В ТЭП генплана стоит полезная площадь 17 043,44 (4 483,04 + 7 665,29 + 4 895,11) — она не включает коридоры, узлы и техпомещения. Разница 5 371,76 м². Показывать надо общую: полезную площадь на градсовете не рассматривают.
280 номеров = 7 665,29 чистых при среднем модуле 27,4 м². Диапазон по заданию 250–300 выдержан.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Финальный содержательный слайд. Здесь бить цифрами.
570–685 рабочих мест: гостиница 170–195 (0,6–0,7 сотрудника на номер при 280 номерах) плюс бизнес-центр 400–490 (4 895 м² при 10–12 м² на рабочее место). Это оценка, не факт.
Главный новый аргумент — офисы: постоянная занятость и налоги круглый год, а не только в сезон.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Если данных нет — слайд лучше удалить, чем показывать пустым.
Для акимата эти цифры часто важнее половины архитектурной части.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Технический слайд, вынесен в приложение, чтобы не тормозить историю.
Показывать по запросу или оставить в раздатке.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запроса к акимату проговариваются здесь: одобрить архитектурно-градостроительную концепцию, выдать АПЗ для перехода к эскизному проекту, определить технические условия на подключение к сетям.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" y="658368"/>
            <a:ext cx="1536192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78408" y="658368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bureau</a:t>
            </a:r>
            <a:endParaRPr lang="en-US" sz="950" dirty="0"/>
          </a:p>
        </p:txBody>
      </p:sp>
      <p:pic>
        <p:nvPicPr>
          <p:cNvPr id="4" name="Image 0" descr="/home/user/most/presentations/aurora-hotel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9864" y="3063240"/>
            <a:ext cx="649224" cy="7223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78408" y="35204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architects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kazakhstan/almaty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7555687" y="35204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презентация для акимата г. Алматы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август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3325216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FF4D2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325216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769968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769968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masterplan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214720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4720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7659472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659472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 plan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Участок и окружение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СИТУАЦИОННАЯ СХЕМА</a:t>
            </a:r>
            <a:endParaRPr lang="en-US" sz="950" dirty="0"/>
          </a:p>
        </p:txBody>
      </p:sp>
      <p:pic>
        <p:nvPicPr>
          <p:cNvPr id="5" name="Image 0" descr="/home/user/most/presentations/aurora-hotel/assets/situation_ne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960120"/>
            <a:ext cx="6766560" cy="50749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6144768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Синим — граница участка, красным — границы смежных землепользований.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7635240" y="987552"/>
            <a:ext cx="398952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Свободный участок 1,4 га на ул. Бухтарминской. Деловое и производственное окружение, жилая застройка не примыкает.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635240" y="2377440"/>
            <a:ext cx="398952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35240" y="2578608"/>
            <a:ext cx="3989527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Снос и расселение не требуются.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Участок обслуживается существующими проездами по всему периметру.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 северу — действующая АЗС, зона 50 м на генплане.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635240" y="4709160"/>
            <a:ext cx="398952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35240" y="4892040"/>
            <a:ext cx="398952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га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7635240" y="5312664"/>
            <a:ext cx="398952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СВОБОДНАЯ ТЕРРИТОРИЯ В СТРУКТУРЕ ГОРОДА</a:t>
            </a:r>
            <a:endParaRPr lang="en-US" sz="800" dirty="0"/>
          </a:p>
        </p:txBody>
      </p:sp>
      <p:pic>
        <p:nvPicPr>
          <p:cNvPr id="13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ИДЕЯ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Силуэт Заилийского Алатау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КОНЦЕПЦИЯ</a:t>
            </a:r>
            <a:endParaRPr lang="en-US" sz="950" dirty="0"/>
          </a:p>
        </p:txBody>
      </p:sp>
      <p:pic>
        <p:nvPicPr>
          <p:cNvPr id="5" name="Image 0" descr="/home/user/most/presentations/aurora-hotel/assets/genesi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60520" y="914400"/>
            <a:ext cx="7498080" cy="50017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146304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ФОРМА ОТ СИЛУЭТА ГОР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1965960"/>
            <a:ext cx="32918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Панорама хребта, которая открывается с участка, — исходная линия проекта. Ломаная гряда в три шага сглаживается до горизонтальных лент перекрытий.</a:t>
            </a:r>
            <a:endParaRPr lang="en-US" sz="1200" dirty="0"/>
          </a:p>
        </p:txBody>
      </p:sp>
      <p:pic>
        <p:nvPicPr>
          <p:cNvPr id="8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ГЕНЕРАЛЬНЫЙ ПЛАН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Посадка на участок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ГЕНПЛАН</a:t>
            </a:r>
            <a:endParaRPr lang="en-US" sz="950" dirty="0"/>
          </a:p>
        </p:txBody>
      </p:sp>
      <p:pic>
        <p:nvPicPr>
          <p:cNvPr id="5" name="Image 0" descr="/home/user/most/presentations/aurora-hotel/assets/genplan_ne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97280"/>
            <a:ext cx="6053328" cy="52120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903720" y="1051560"/>
            <a:ext cx="47210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ОТСТУПЫ ОТ ГРАНИЦ УЧАСТКА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6903720" y="1325880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6,00</a:t>
            </a:r>
            <a:pPr indent="0" marL="0">
              <a:buNone/>
            </a:pPr>
            <a:r>
              <a:rPr lang="en-US" sz="9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6903720" y="1655064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spc="2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ЗАПАД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083982" y="1325880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15,33</a:t>
            </a:r>
            <a:pPr indent="0" marL="0">
              <a:buNone/>
            </a:pPr>
            <a:r>
              <a:rPr lang="en-US" sz="9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8083982" y="1655064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spc="2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СЕВЕРО-ВОСТОК</a:t>
            </a:r>
            <a:endParaRPr lang="en-US" sz="750" dirty="0"/>
          </a:p>
        </p:txBody>
      </p:sp>
      <p:sp>
        <p:nvSpPr>
          <p:cNvPr id="11" name="Text 8"/>
          <p:cNvSpPr txBox="1"/>
          <p:nvPr/>
        </p:nvSpPr>
        <p:spPr>
          <a:xfrm>
            <a:off x="9264244" y="1325880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17,49</a:t>
            </a:r>
            <a:pPr indent="0" marL="0">
              <a:buNone/>
            </a:pPr>
            <a:r>
              <a:rPr lang="en-US" sz="9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9264244" y="1655064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spc="2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ВОСТОК</a:t>
            </a:r>
            <a:endParaRPr lang="en-US" sz="750" dirty="0"/>
          </a:p>
        </p:txBody>
      </p:sp>
      <p:sp>
        <p:nvSpPr>
          <p:cNvPr id="13" name="Text 10"/>
          <p:cNvSpPr txBox="1"/>
          <p:nvPr/>
        </p:nvSpPr>
        <p:spPr>
          <a:xfrm>
            <a:off x="10444505" y="1325880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6,00</a:t>
            </a:r>
            <a:pPr indent="0" marL="0">
              <a:buNone/>
            </a:pPr>
            <a:r>
              <a:rPr lang="en-US" sz="9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10444505" y="1655064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spc="2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ЮГ</a:t>
            </a:r>
            <a:endParaRPr lang="en-US" sz="750" dirty="0"/>
          </a:p>
        </p:txBody>
      </p:sp>
      <p:sp>
        <p:nvSpPr>
          <p:cNvPr id="15" name="Shape 12"/>
          <p:cNvSpPr/>
          <p:nvPr/>
        </p:nvSpPr>
        <p:spPr>
          <a:xfrm>
            <a:off x="6903720" y="2148840"/>
            <a:ext cx="472104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903720" y="2350008"/>
            <a:ext cx="4721047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Гостиничный корпус вытянут вдоль участка и раскрыт во внутренний двор; бизнес-центр замыкает композицию с юго-востока.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Кольцевой проезд замкнут вокруг застройки: подъезд ко всем входам и разворот пожарной техники.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Наземные стоянки вынесены на периметр и во внутренний двор, вне пятна застройки.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Рядовая посадка деревьев по всему периметру формирует буфер между застройкой и границами.</a:t>
            </a:r>
            <a:endParaRPr lang="en-US" sz="1100" dirty="0"/>
          </a:p>
        </p:txBody>
      </p:sp>
      <p:pic>
        <p:nvPicPr>
          <p:cNvPr id="17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facad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ГЛАВНЫЙ ФАСАД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bc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БИЗНЕС-ЦЕНТР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lobb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ЛОББИ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lobby_gran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ЛОББИ-ЛАУНЖ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restauran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РЕСТОРАН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conferenc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КОНФЕРЕНЦ-ЗАЛ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boardroo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ПЕРЕГОВОРНАЯ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coworkin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КОВОРКИНГ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gy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ФИТНЕС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roo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terrac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ОБЩЕСТВЕННАЯ ТЕРРАСА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nigh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ВЕЧЕРНИЙ ВИД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C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material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348" y="0"/>
            <a:ext cx="10287000" cy="6858000"/>
          </a:xfrm>
          <a:prstGeom prst="rect">
            <a:avLst/>
          </a:prstGeom>
        </p:spPr>
      </p:pic>
      <p:pic>
        <p:nvPicPr>
          <p:cNvPr id="3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БЛАГОУСТРОЙСТВО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Открытая территория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ФРАГМЕНТ ГЕНПЛАНА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371600"/>
            <a:ext cx="4343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64,4</a:t>
            </a:r>
            <a:pPr indent="0" marL="0">
              <a:buNone/>
            </a:pPr>
            <a:r>
              <a:rPr lang="en-US" sz="30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%</a:t>
            </a:r>
            <a:endParaRPr lang="en-US" sz="76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60604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ТЕРРИТОРИИ ВНЕ ПЯТНА ЗАСТРОЙКИ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2889504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9 018,84 м² из 14 000 м²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3429000"/>
            <a:ext cx="4343400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" y="3630168"/>
            <a:ext cx="4343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Рядовая посадка деревьев по всему периметру участка и вдоль ул. Бухтарминской.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Внутренний двор раскрыт на юго-запад и защищён корпусом от улицы.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Баланс по замеру бюро: озеленение 32,2 %, покрытия и стоянки 33,4 %, застройка 34,4 %.</a:t>
            </a:r>
            <a:endParaRPr lang="en-US" sz="1100" dirty="0"/>
          </a:p>
        </p:txBody>
      </p:sp>
      <p:pic>
        <p:nvPicPr>
          <p:cNvPr id="10" name="Image 0" descr="/home/user/most/presentations/aurora-hotel/assets/green_ne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1234440"/>
            <a:ext cx="6263640" cy="4242816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394960" y="5596128"/>
            <a:ext cx="6263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Зелёный клин с рядовой посадкой между корпусом и ул. Бухтарминской.</a:t>
            </a:r>
            <a:endParaRPr lang="en-US" sz="800" dirty="0"/>
          </a:p>
        </p:txBody>
      </p:sp>
      <p:pic>
        <p:nvPicPr>
          <p:cNvPr id="12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ТРАНСПОРТ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Схема обслуживания участка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СХЕМА</a:t>
            </a:r>
            <a:endParaRPr lang="en-US" sz="950" dirty="0"/>
          </a:p>
        </p:txBody>
      </p:sp>
      <p:pic>
        <p:nvPicPr>
          <p:cNvPr id="5" name="Image 0" descr="/home/user/most/presentations/aurora-hotel/assets/situation_ne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51560"/>
            <a:ext cx="7196328" cy="53949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407280" y="2545324"/>
            <a:ext cx="292608" cy="292608"/>
          </a:xfrm>
          <a:prstGeom prst="ellipse">
            <a:avLst/>
          </a:prstGeom>
          <a:solidFill>
            <a:srgbClr val="FF4D2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407280" y="25453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983276" y="4066703"/>
            <a:ext cx="292608" cy="292608"/>
          </a:xfrm>
          <a:prstGeom prst="ellipse">
            <a:avLst/>
          </a:prstGeom>
          <a:solidFill>
            <a:srgbClr val="FF4D2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983276" y="406670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343671" y="4115257"/>
            <a:ext cx="292608" cy="292608"/>
          </a:xfrm>
          <a:prstGeom prst="ellipse">
            <a:avLst/>
          </a:prstGeom>
          <a:solidFill>
            <a:srgbClr val="FF4D2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343671" y="4115257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372746" y="5345308"/>
            <a:ext cx="292608" cy="292608"/>
          </a:xfrm>
          <a:prstGeom prst="ellipse">
            <a:avLst/>
          </a:prstGeom>
          <a:solidFill>
            <a:srgbClr val="FF4D2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372746" y="53453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8092440" y="1042416"/>
            <a:ext cx="274320" cy="274320"/>
          </a:xfrm>
          <a:prstGeom prst="ellipse">
            <a:avLst/>
          </a:prstGeom>
          <a:solidFill>
            <a:srgbClr val="FF4D23"/>
          </a:solidFill>
          <a:ln w="12700">
            <a:solidFill>
              <a:srgbClr val="FF4D2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092440" y="10424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8513064" y="1024128"/>
            <a:ext cx="31117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Гостевые места с запада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513064" y="1298448"/>
            <a:ext cx="311170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Ряд со стороны улицы, у главного входа. Гостевой транспорт не заезжает во внутренний двор.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092440" y="2212848"/>
            <a:ext cx="274320" cy="274320"/>
          </a:xfrm>
          <a:prstGeom prst="ellipse">
            <a:avLst/>
          </a:prstGeom>
          <a:solidFill>
            <a:srgbClr val="FF4D23"/>
          </a:solidFill>
          <a:ln w="12700">
            <a:solidFill>
              <a:srgbClr val="FF4D23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092440" y="22128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8513064" y="2194560"/>
            <a:ext cx="31117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Основной паркинг во дворе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8513064" y="2468880"/>
            <a:ext cx="311170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Два ряда вдоль юго-западной границы, за кольцевым проездом, вне пятна застройки.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8092440" y="3383280"/>
            <a:ext cx="274320" cy="274320"/>
          </a:xfrm>
          <a:prstGeom prst="ellipse">
            <a:avLst/>
          </a:prstGeom>
          <a:solidFill>
            <a:srgbClr val="FF4D23"/>
          </a:solidFill>
          <a:ln w="12700">
            <a:solidFill>
              <a:srgbClr val="FF4D23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092440" y="3383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8513064" y="3364992"/>
            <a:ext cx="31117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Стоянка вдоль Бухтарминской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8513064" y="3639312"/>
            <a:ext cx="311170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Ряд в зелёной полосе с северо-востока, под рядовой посадкой деревьев.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8092440" y="4553712"/>
            <a:ext cx="274320" cy="274320"/>
          </a:xfrm>
          <a:prstGeom prst="ellipse">
            <a:avLst/>
          </a:prstGeom>
          <a:solidFill>
            <a:srgbClr val="FF4D23"/>
          </a:solidFill>
          <a:ln w="12700">
            <a:solidFill>
              <a:srgbClr val="FF4D23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092440" y="45537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8513064" y="4535424"/>
            <a:ext cx="31117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Узел бизнес-центра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8513064" y="4809744"/>
            <a:ext cx="311170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Подъезд и стоянки у отдельного входа в бизнес-центр с юго-восточной стороны.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8092440" y="5760720"/>
            <a:ext cx="329184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FF4D23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092440" y="576072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 машино-места по генплану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8092440" y="6144768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Весь паркинг наземный, подземный этаж не предусмотрен.</a:t>
            </a:r>
            <a:endParaRPr lang="en-US" sz="800" dirty="0"/>
          </a:p>
        </p:txBody>
      </p:sp>
      <p:sp>
        <p:nvSpPr>
          <p:cNvPr id="33" name="Text 30"/>
          <p:cNvSpPr txBox="1"/>
          <p:nvPr/>
        </p:nvSpPr>
        <p:spPr>
          <a:xfrm>
            <a:off x="1188720" y="6492240"/>
            <a:ext cx="6510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Кольцевой проезд замкнут вокруг застройки: подъезд ко всем входам, разгрузка и проезд пожарной техники.</a:t>
            </a:r>
            <a:endParaRPr lang="en-US" sz="800" dirty="0"/>
          </a:p>
        </p:txBody>
      </p:sp>
      <p:pic>
        <p:nvPicPr>
          <p:cNvPr id="34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ПОКАЗАТЕЛИ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Ключевые параметры проекта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ТЭП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га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УЧАСТКА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3298698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этажей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3298698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 ПОДЗЕМНОГО ЭТАЖА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6094476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280</a:t>
            </a:r>
            <a:pPr indent="0" marL="0">
              <a:buNone/>
            </a:pP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6094476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НОМЕРОВ КАТЕГОРИИ 4 ЗВЕЗДЫ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8890254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22 415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м²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8890254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ОБЩАЯ НАДЗЕМНАЯ ПЛОЩАДЬ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02920" y="2743200"/>
            <a:ext cx="1118311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2920" y="29260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застройки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897880" y="2926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4 981,16 м²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458200" y="29260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35,6 % участка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3236976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2920" y="335584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1-го этажа — общественные функции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897880" y="33558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4 483,04 м²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335584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20,0 % надземной площади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2920" y="3666744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02920" y="3785616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Номерной фонд, нетто (этажи 2–5)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5897880" y="378561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7 665,29 м²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458200" y="378561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280 номеров, средний модуль 27,4 м²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02920" y="4096512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02920" y="4215384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Бизнес-центр, нетто (этажи 2–5)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5897880" y="42153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4 895,11 м²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8458200" y="421538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21,8 % надземной площади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2920" y="4526280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02920" y="464515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Коридоры, узлы и техпомещения (расчётно)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5897880" y="46451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5 371,76 м²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458200" y="464515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коэффициент этажа 0,70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02920" y="4956048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02920" y="50749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Надземная часть, всего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5897880" y="50749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22 415,20 м²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8458200" y="50749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коэф. использования территории 1,60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385816"/>
            <a:ext cx="1118311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02920" y="55046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Наземный паркинг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5897880" y="55046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 м/м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8458200" y="55046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подземный этаж не предусмотрен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815584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02920" y="6035040"/>
            <a:ext cx="11183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Строка с пометкой «расчётно» получена расчётом бюро: в ТЭП генплана указана только полезная площадь.</a:t>
            </a:r>
            <a:endParaRPr lang="en-US" sz="800" dirty="0"/>
          </a:p>
        </p:txBody>
      </p:sp>
      <p:pic>
        <p:nvPicPr>
          <p:cNvPr id="43" name="Image 0" descr="/home/user/most/presentations/aurora-hotel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44" name="Text 41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ПОЛУЧАЕТ АЛМАТЫ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371600"/>
            <a:ext cx="2521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280</a:t>
            </a:r>
            <a:pPr indent="0" marL="0">
              <a:buNone/>
            </a:pP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956816"/>
            <a:ext cx="2521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spc="40" kern="0" dirty="0">
                <a:solidFill>
                  <a:srgbClr val="A9A9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НОМЕРОВ КАТЕГОРИИ 4 ЗВЕЗДЫ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3298698" y="1371600"/>
            <a:ext cx="2521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570 – 685</a:t>
            </a:r>
            <a:pPr indent="0" marL="0">
              <a:buNone/>
            </a:pP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3298698" y="1956816"/>
            <a:ext cx="2521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spc="40" kern="0" dirty="0">
                <a:solidFill>
                  <a:srgbClr val="A9A9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ПОСТОЯННЫХ РАБОЧИХ МЕСТ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094476" y="1371600"/>
            <a:ext cx="2521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22 415</a:t>
            </a:r>
            <a:pPr indent="0" marL="0">
              <a:buNone/>
            </a:pPr>
            <a:r>
              <a:rPr lang="en-US" sz="14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м²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6094476" y="1956816"/>
            <a:ext cx="2521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spc="40" kern="0" dirty="0">
                <a:solidFill>
                  <a:srgbClr val="A9A9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НОВЫХ ПЛОЩАДЕЙ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890254" y="1371600"/>
            <a:ext cx="2521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4 895</a:t>
            </a:r>
            <a:pPr indent="0" marL="0">
              <a:buNone/>
            </a:pPr>
            <a:r>
              <a:rPr lang="en-US" sz="14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м²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8890254" y="1956816"/>
            <a:ext cx="2521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spc="40" kern="0" dirty="0">
                <a:solidFill>
                  <a:srgbClr val="A9A9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ОФИСОВ БИЗНЕС-ЦЕНТРА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2880360"/>
            <a:ext cx="11183112" cy="7315"/>
          </a:xfrm>
          <a:prstGeom prst="rect">
            <a:avLst/>
          </a:prstGeom>
          <a:solidFill>
            <a:srgbClr val="3A3A38"/>
          </a:solidFill>
          <a:ln w="12700">
            <a:solidFill>
              <a:srgbClr val="3A3A3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2920" y="3200400"/>
            <a:ext cx="5394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D8D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Пустующий участок в деловом поясе получает капитальную функцию без сноса и расселения.</a:t>
            </a:r>
            <a:endParaRPr lang="en-US" sz="115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D8D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Бизнес-центр даёт рабочие места и налоговую базу, не зависящие от туристического сезона.</a:t>
            </a:r>
            <a:endParaRPr lang="en-US" sz="115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50" dirty="0">
                <a:solidFill>
                  <a:srgbClr val="D8D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Ресторан и конференц-зона первого этажа работают на город, а не только на постояльцев.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320040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 не перекрывает панораму хребта: пять этажей вместо вертикальной доминанты.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448056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Две трети участка — 9 018,84 м² — остаются открытой территорией.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5943600"/>
            <a:ext cx="11183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Численность рабочих мест указана оценочно: 170–195 в гостинице и 400–490 в бизнес-центре. Уточняется после утверждения планировочных решений.</a:t>
            </a:r>
            <a:endParaRPr lang="en-US" sz="800" dirty="0"/>
          </a:p>
        </p:txBody>
      </p:sp>
      <p:pic>
        <p:nvPicPr>
          <p:cNvPr id="16" name="Image 0" descr="/home/user/most/presentations/aurora-hotel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A6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РЕАЛИЗАЦИЯ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Инвестиции и сроки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ЭКОНОМИКА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1887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ПОКАЗАТЕЛИ, КОТОРЫЕ ВНОСИТ ЗАКАЗЧИК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64592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 на стадии концепции. Экономические параметры подтверждаются инвестором и вносятся до показа.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2743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Объём инвестиций, млрд ₸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132320" y="2743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________________________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3090672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32735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Налоговые поступления в год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132320" y="32735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________________________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3621024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2920" y="380390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Рабочие места на период строительства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0" y="380390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________________________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4151376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2920" y="433425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Гостиничный оператор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0" y="433425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________________________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4681728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02920" y="48646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Начало строительства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132320" y="4864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________________________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5212080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02920" y="53949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Ввод в эксплуатацию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132320" y="5394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________________________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02920" y="5742432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pic>
        <p:nvPicPr>
          <p:cNvPr id="25" name="Image 0" descr="/home/user/most/presentations/aurora-hotel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ПРИЛОЖЕНИЕ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Соответствие нормам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НОРМЫ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188720"/>
            <a:ext cx="5157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ПОДТВЕРЖДЕНО ГЕНПЛАНОМ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536192"/>
            <a:ext cx="5157216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1755648"/>
            <a:ext cx="515721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Отступы от границ: 6,00 м с запада и юга, 15,33 м с северо-востока, 17,49 м с востока.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Этажность 5 этажей по гостиничному корпусу и бизнес-центру, без превышения отметок соседней застройки.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Замкнутый кольцевой пожарный проезд вокруг пятна застройки.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Плотность застройки 35,6 %, коэффициент использования территории 1,60.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Рядовая посадка деревьев по всему периметру участка.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528816" y="1188720"/>
            <a:ext cx="5157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УТОЧНЯЕТСЯ НА СТАДИИ ЭП И ПСД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528816" y="1536192"/>
            <a:ext cx="5157216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28816" y="1755648"/>
            <a:ext cx="515721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Санитарно-защитная зона действующей АЗС: подтвердить тип станции и установленный размер СЗЗ. На генплане прочерчена зона 50 м.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 машино-мест по нормативу раздельно для гостиницы и бизнес-центра; на генплане предусмотрено 102 наземных места.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Состав технических помещений первого этажа: проект без подземного этажа, инженерная и хозяйственная зоны уточняются.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Баланс территории раздельно: озеленение, покрытия, проезды, площадки.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Технические условия на воду, канализацию, тепло и электроснабжение; расчёты инсоляции и шума.</a:t>
            </a:r>
            <a:endParaRPr lang="en-US" sz="1050" dirty="0"/>
          </a:p>
        </p:txBody>
      </p:sp>
      <p:pic>
        <p:nvPicPr>
          <p:cNvPr id="11" name="Image 0" descr="/home/user/most/presentations/aurora-hotel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" y="658368"/>
            <a:ext cx="1536192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78408" y="658368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bureau</a:t>
            </a:r>
            <a:endParaRPr lang="en-US" sz="950" dirty="0"/>
          </a:p>
        </p:txBody>
      </p:sp>
      <p:pic>
        <p:nvPicPr>
          <p:cNvPr id="4" name="Image 0" descr="/home/user/most/presentations/aurora-hotel/assets/qr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51576" y="2962656"/>
            <a:ext cx="685800" cy="6858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78408" y="35204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architects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kazakhstan/almaty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7555687" y="35204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most-a.com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e-mail: info@most-a.com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 (771) 733 77 00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492344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FF4D2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92344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MOST Architects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Гостиничный комплекс — г. Алматы, ул. Бухтарминская</dc:title>
  <dc:subject>PptxGenJS Presentation</dc:subject>
  <dc:creator>MOST Architects</dc:creator>
  <cp:lastModifiedBy>MOST Architects</cp:lastModifiedBy>
  <cp:revision>1</cp:revision>
  <dcterms:created xsi:type="dcterms:W3CDTF">2026-08-31T08:37:10Z</dcterms:created>
  <dcterms:modified xsi:type="dcterms:W3CDTF">2026-08-31T08:37:10Z</dcterms:modified>
</cp:coreProperties>
</file>