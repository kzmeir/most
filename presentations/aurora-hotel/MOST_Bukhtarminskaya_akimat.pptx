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Ничего не зачитывать — назвать объект и передать слово по существу.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расселяем.\nАЗС: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 три секунды. Слева — что есть, справа — что будет. Не комментировать подробно.\nВСТАВИТЬ аэрофото пустого участка в левое поле.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 не произвольная — она выведена из силуэта, который виден с участка.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аргумент для градсовета: высотность не взята сознательно.\nСлева на схеме — что было бы при вертикальной доминанте: она рвёт линию гор. Справа — наш вариант.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генплана, не пересчитывались.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простая схема в презентации и одна из самых важных: видно, что первый этаж работает на город.\nОбе площади — из ТЭП генплана, не расчётные.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 не «в отеле есть ресторан», а «первый этаж доступен городу». Это то, что интересует акимат.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Пауза. Дать слайду постоять — идея уже рассказана, это её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гостя одним движением: подъезд — вход — вестибюль.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кадра — один тезис. Не рассказывать про каждый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Эмоциональная часть: что получает гость. Дальше возвращаемся к делу.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= 14 000 − 4 941,11. В эту площадь входят и проезды — отдельную долю озеленения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должна читаться за пять секунд: два въезда, паркинг, кольцевой проезд.\nЧисло машино-мест по чертежу не считается — подтвердить у заказчика и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цифры.\nГотовность к вопросу: 27 521,32 = 22 580,21 надземной + 4 941,11 подземного этажа.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содержательный слайд. Здесь бить цифрами.\n170–210 рабочих мест — расчёт от 0,6–0,7 сотрудника на номер при 280–300 номерах. Это оценка, не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данных нет — слайд лучше удалить, чем показывать пустым.\nДля акимата эти цифры часто важнее половины архитектурной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историю.\nПоказывать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>
              <a:alpha val="48000"/>
            </a:srgbClr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22960" y="4224528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99262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4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  ·  август 2026</a:t>
            </a:r>
            <a:endParaRPr lang="en-US" sz="1000" dirty="0"/>
          </a:p>
        </p:txBody>
      </p:sp>
      <p:pic>
        <p:nvPicPr>
          <p:cNvPr id="7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457200"/>
            <a:ext cx="630936" cy="704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Существующая ситуация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Было и станет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ТРАНСФОРМАЦИЯ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5257800" cy="3931920"/>
          </a:xfrm>
          <a:prstGeom prst="rect">
            <a:avLst/>
          </a:prstGeom>
          <a:solidFill>
            <a:srgbClr val="F4F3F1"/>
          </a:solidFill>
          <a:ln w="12700">
            <a:solidFill>
              <a:srgbClr val="FF4D23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02920" y="1234440"/>
            <a:ext cx="5257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аэрофото существующего состояния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вставить снимок пустого участка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923544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БЫЛО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888736" y="3054096"/>
            <a:ext cx="402336" cy="292608"/>
          </a:xfrm>
          <a:prstGeom prst="rightArrow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pic>
        <p:nvPicPr>
          <p:cNvPr id="9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19088" y="1234440"/>
            <a:ext cx="5257800" cy="3931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19088" y="923544"/>
            <a:ext cx="5257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СТАНЕТ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557784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Пустырь в деловом поясе города становится гостиничным комплексом на 280–300 номеров с общественным первым этажом.</a:t>
            </a:r>
            <a:endParaRPr lang="en-US" sz="1300" dirty="0"/>
          </a:p>
        </p:txBody>
      </p:sp>
      <p:pic>
        <p:nvPicPr>
          <p:cNvPr id="1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Силуэт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914400"/>
            <a:ext cx="7498080" cy="5001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9659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Панорама хребта, которая открывается с участка, — исходная линия проекта. Ломаная гряда в три шага сглаживается до горизонтальных лент перекрытий.</a:t>
            </a:r>
            <a:endParaRPr lang="en-US" sz="1200" dirty="0"/>
          </a:p>
        </p:txBody>
      </p:sp>
      <p:pic>
        <p:nvPicPr>
          <p:cNvPr id="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пять этажей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3444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КОНКУРИРУЕМ С ПАНОРАМОЙ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55648"/>
            <a:ext cx="3794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в 1,4 га позволял поставить башню. Вместо этого объём распластан по горизонтали и держится ниже линии гор.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37947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3630168"/>
            <a:ext cx="3794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этажей — в габаритах окружающей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Виды соседних участков на хребет не перекрываются.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Силуэт продолжает ландшафт, а не спорит с ним.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77640" y="3456432"/>
            <a:ext cx="2103120" cy="1801368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3017520"/>
            <a:ext cx="2103120" cy="2240280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15000" y="3566160"/>
            <a:ext cx="2103120" cy="1691640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29400" y="2852928"/>
            <a:ext cx="2103120" cy="2404872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43800" y="3346704"/>
            <a:ext cx="2103120" cy="1911096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2962656"/>
            <a:ext cx="2103120" cy="2295144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55480" y="3511296"/>
            <a:ext cx="2103120" cy="1746504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69880" y="3163824"/>
            <a:ext cx="2103120" cy="2093976"/>
          </a:xfrm>
          <a:prstGeom prst="triangle">
            <a:avLst/>
          </a:prstGeom>
          <a:solidFill>
            <a:srgbClr val="E8E8E4"/>
          </a:solidFill>
          <a:ln w="12700">
            <a:solidFill>
              <a:srgbClr val="E8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2040" y="5257800"/>
            <a:ext cx="70866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2148840"/>
            <a:ext cx="731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A8A8A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5532120" y="34290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538581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условная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вертикальная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доминанта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138160" y="4965192"/>
            <a:ext cx="3108960" cy="265176"/>
          </a:xfrm>
          <a:prstGeom prst="roundRect">
            <a:avLst>
              <a:gd name="adj" fmla="val 17241"/>
            </a:avLst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2460" y="4672584"/>
            <a:ext cx="2880360" cy="265176"/>
          </a:xfrm>
          <a:prstGeom prst="roundRect">
            <a:avLst>
              <a:gd name="adj" fmla="val 17241"/>
            </a:avLst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66760" y="4379976"/>
            <a:ext cx="2651760" cy="265176"/>
          </a:xfrm>
          <a:prstGeom prst="roundRect">
            <a:avLst>
              <a:gd name="adj" fmla="val 17241"/>
            </a:avLst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087368"/>
            <a:ext cx="2377440" cy="265176"/>
          </a:xfrm>
          <a:prstGeom prst="roundRect">
            <a:avLst>
              <a:gd name="adj" fmla="val 17241"/>
            </a:avLst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0" y="3794760"/>
            <a:ext cx="2011680" cy="265176"/>
          </a:xfrm>
          <a:prstGeom prst="roundRect">
            <a:avLst>
              <a:gd name="adj" fmla="val 17241"/>
            </a:avLst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0" y="53858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объём · 5 этажей</a:t>
            </a:r>
            <a:endParaRPr lang="en-US" sz="850" dirty="0"/>
          </a:p>
        </p:txBody>
      </p:sp>
      <p:pic>
        <p:nvPicPr>
          <p:cNvPr id="27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100" dirty="0"/>
          </a:p>
        </p:txBody>
      </p:sp>
      <p:pic>
        <p:nvPicPr>
          <p:cNvPr id="17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ЭТАЖ — ГОРОДУ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288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 отдан общественным функциям. Этажи со 2-го по 5-й — номерной фонд.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004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2102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 · 1 ЭТАЖ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3434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6402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 · ЭТАЖИ 2–5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897880" y="5056632"/>
            <a:ext cx="4846320" cy="566928"/>
          </a:xfrm>
          <a:prstGeom prst="roundRect">
            <a:avLst>
              <a:gd name="adj" fmla="val 19355"/>
            </a:avLst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97880" y="505663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57900" y="4416552"/>
            <a:ext cx="4526280" cy="566928"/>
          </a:xfrm>
          <a:prstGeom prst="roundRect">
            <a:avLst>
              <a:gd name="adj" fmla="val 1935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3776472"/>
            <a:ext cx="4206240" cy="566928"/>
          </a:xfrm>
          <a:prstGeom prst="roundRect">
            <a:avLst>
              <a:gd name="adj" fmla="val 1935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3136392"/>
            <a:ext cx="3840480" cy="566928"/>
          </a:xfrm>
          <a:prstGeom prst="roundRect">
            <a:avLst>
              <a:gd name="adj" fmla="val 1935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2496312"/>
            <a:ext cx="3383280" cy="566928"/>
          </a:xfrm>
          <a:prstGeom prst="roundRect">
            <a:avLst>
              <a:gd name="adj" fmla="val 1935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377647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ROOMS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5641848"/>
            <a:ext cx="512064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9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5778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217920" y="914400"/>
            <a:ext cx="54068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6217920" y="1188720"/>
            <a:ext cx="540684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 не только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постояльцев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217920" y="2487168"/>
            <a:ext cx="54068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 — четверть надземной площади комплекса — работают как городская функция.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217920" y="3310128"/>
            <a:ext cx="54068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0" y="3511296"/>
            <a:ext cx="5406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и приём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3749040"/>
            <a:ext cx="54068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Круговой подъезд, зона высадки, вестибюль двойной высоты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4224528"/>
            <a:ext cx="5406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Рестораны и кафе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4462272"/>
            <a:ext cx="54068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Открыты с улицы, а не только из гостиницы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4937760"/>
            <a:ext cx="5406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Конференц-зона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175504"/>
            <a:ext cx="54068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для деловых и городских мероприятий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5650992"/>
            <a:ext cx="54068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Оздоровительный блок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5888736"/>
            <a:ext cx="54068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 и фитнес; состав уточняется на стадии ЭП</a:t>
            </a:r>
            <a:endParaRPr lang="en-US" sz="1050" dirty="0"/>
          </a:p>
        </p:txBody>
      </p:sp>
      <p:pic>
        <p:nvPicPr>
          <p:cNvPr id="1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 стороны въездной группы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ГОСТЯ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Прибытие и вестибюль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arriv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5394960" cy="3584448"/>
          </a:xfrm>
          <a:prstGeom prst="rect">
            <a:avLst/>
          </a:prstGeom>
        </p:spPr>
      </p:pic>
      <p:pic>
        <p:nvPicPr>
          <p:cNvPr id="6" name="Image 1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34440"/>
            <a:ext cx="5394960" cy="35844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923544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ПРИБЫТИЕ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6291072" y="923544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ЛОББИ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94690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Круговой подъезд и входной портик со стороны внутриквартального проезда.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6291072" y="494690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Вестибюль двойной высоты с раскрытием на панораму хребта.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971032" y="2898648"/>
            <a:ext cx="274320" cy="256032"/>
          </a:xfrm>
          <a:prstGeom prst="rightArrow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56692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Круговой подъезд отделён от хозяйственного двора: потоки гостей и обслуживания не пересекаются.</a:t>
            </a:r>
            <a:endParaRPr lang="en-US" sz="1250" dirty="0"/>
          </a:p>
        </p:txBody>
      </p:sp>
      <p:pic>
        <p:nvPicPr>
          <p:cNvPr id="13" name="Image 2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ОБЩЕСТВЕННЫЕ ФУНКЦИИ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 и конференц-зона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5394960" cy="3584448"/>
          </a:xfrm>
          <a:prstGeom prst="rect">
            <a:avLst/>
          </a:prstGeom>
        </p:spPr>
      </p:pic>
      <p:pic>
        <p:nvPicPr>
          <p:cNvPr id="6" name="Image 1" descr="/tmp/claude-0/-home-user-most/9fc1ec31-3c64-5a82-aadb-ddb23fff6e53/scratchpad/assets/conferen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34440"/>
            <a:ext cx="5394960" cy="35844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923544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6291072" y="923544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94690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первого этажа с выходом на террасу в сад.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6291072" y="494690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для деловых мероприятий и городских событий.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56692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 функции работают на город и держат загрузку вне туристического сезона.</a:t>
            </a:r>
            <a:endParaRPr lang="en-US" sz="1250" dirty="0"/>
          </a:p>
        </p:txBody>
      </p:sp>
      <p:pic>
        <p:nvPicPr>
          <p:cNvPr id="12" name="Image 2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ГОСТЬ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и общественная терраса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ВИЗУАЛИЗАЦИИ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589520" cy="5065776"/>
          </a:xfrm>
          <a:prstGeom prst="rect">
            <a:avLst/>
          </a:prstGeom>
        </p:spPr>
      </p:pic>
      <p:pic>
        <p:nvPicPr>
          <p:cNvPr id="6" name="Image 1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34440"/>
            <a:ext cx="3319272" cy="2212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66760" y="3566160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 верхнего яруса.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8366760" y="4114800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номер раскрыт на город и хребет, с собственным балконом на озеленённой ленте фасада.</a:t>
            </a:r>
            <a:endParaRPr lang="en-US" sz="1150" dirty="0"/>
          </a:p>
        </p:txBody>
      </p:sp>
      <p:pic>
        <p:nvPicPr>
          <p:cNvPr id="9" name="Image 2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Открытая территория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30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060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ТЕРРИТОРИИ ВНЕ ПЯТНА ЗАСТРОЙКИ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895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 м² из 14 000 м²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29000"/>
            <a:ext cx="434340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630168"/>
            <a:ext cx="4343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100" dirty="0"/>
          </a:p>
        </p:txBody>
      </p:sp>
      <p:pic>
        <p:nvPicPr>
          <p:cNvPr id="10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34440"/>
            <a:ext cx="6263640" cy="424281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94960" y="5596128"/>
            <a:ext cx="6263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обслуживания участка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7196328" cy="539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46256" y="3440887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46256" y="344088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242054" y="3818534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2054" y="38185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918798" y="3332988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18798" y="33329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839349" y="4304081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39349" y="43040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92440" y="1069848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1069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051560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513064" y="1325880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вдоль западной кромки, со стороны улицы. Гостевой транспорт не заезжает во двор.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092440" y="2240280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924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513064" y="2221992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13064" y="2496312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 с внутриквартального проезда, зона высадки и рампа в подземный паркинг под корпусом.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92440" y="3410712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2440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13064" y="3392424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Северо-восточный въезд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13064" y="3666744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узел со стороны ул. Бухтарминской. Оба входа вынесены от перекрёстка.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092440" y="4581144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92440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513064" y="4562856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513064" y="4837176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 вокруг застройки: подъезд ко всем входам, разгрузка и проезд пожарной техники.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092440" y="5870448"/>
            <a:ext cx="2651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2440" y="58704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3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ПЛЮС ПОДЗЕМНЫЙ ЭТАЖ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71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4 941,11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3009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447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447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9227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номеров,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9227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9227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56,2 % надземной площади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25196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 и узлы этажей 2–5 (расчётно)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5 439,99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3982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0,70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7274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8737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этаж — паркинг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4 941,11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873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пятну застройки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520293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349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349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22 580,21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349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678424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Строки с пометкой «расчётно» получены расчётом бюро: в исходных ТЭП генплана они не выделены.</a:t>
            </a:r>
            <a:endParaRPr lang="en-US" sz="800" dirty="0"/>
          </a:p>
        </p:txBody>
      </p:sp>
      <p:pic>
        <p:nvPicPr>
          <p:cNvPr id="39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АЛМАТЫ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98698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– 210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3298698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094476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094476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НОВЫХ ПЛОЩАДЕЙ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890254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890254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ОБЩЕСТВЕННЫХ ФУНКЦИЙ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880360"/>
            <a:ext cx="11183112" cy="7315"/>
          </a:xfrm>
          <a:prstGeom prst="rect">
            <a:avLst/>
          </a:prstGeom>
          <a:solidFill>
            <a:srgbClr val="3A3A38"/>
          </a:solidFill>
          <a:ln w="12700">
            <a:solidFill>
              <a:srgbClr val="3A3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2004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Пустующий участок в деловом поясе получает капитальную функцию без сноса и расселения.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 и конференц-зона первого этажа работают на город, а не только на постояльцев.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Круглогодичная загрузка: деловой сегмент зимой, горный и событийный туризм летом.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2004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не перекрывает панораму хребта: пять этажей вместо вертикальной доминанты.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4805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— 9 058,89 м² — остаются открытой территорией.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94360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уточняются после утверждения планировочных решений.</a:t>
            </a:r>
            <a:endParaRPr lang="en-US" sz="800" dirty="0"/>
          </a:p>
        </p:txBody>
      </p:sp>
      <p:pic>
        <p:nvPicPr>
          <p:cNvPr id="16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Инвестиции и сроки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на стадии концепции. Экономические параметры подтверждаются инвестором и вносятся до показа.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3273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3273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2102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80390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1513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43342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43342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8172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4864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Начало строительства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2120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в эксплуатацию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5394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574243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pic>
        <p:nvPicPr>
          <p:cNvPr id="25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3,00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обоим корпусам,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35,3 %, коэффициент использования территории 1,61.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</p:txBody>
      </p:sp>
      <p:pic>
        <p:nvPicPr>
          <p:cNvPr id="1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2026-08-28T19:49:13Z</dcterms:created>
  <dcterms:modified xsi:type="dcterms:W3CDTF">2026-08-28T19:49:13Z</dcterms:modified>
</cp:coreProperties>
</file>