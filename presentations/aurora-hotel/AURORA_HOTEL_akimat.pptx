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Титул. Стадия — концепция (отмечена на нижней шкале).
Объект: гостиница 4 звезды, ул. Бухтарминская, участок 1,4 га, два корпуса по 5 этажей, общая площадь 17 140,22 м².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Красным на схеме — границы смежных землепользований, синим — граница участка.
Район города и кадастровый номер — данные заказчика, вписать до показа.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Отступы 6,00 / 3,00 / 17,49 / 6,00 м вынесены на чертёж генплана.
Типовой вопрос — пожарный проезд: контур замкнут вокруг пятна застройки.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Все значения таблицы — из ТЭП генплана, без пересчёта.
Коэффициенты: 4941,11/14000 = 35,3 %; 17140,22/14000 = 1,22; 14000−4941,11 = 9 058,89 м² = 64,7 %.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Комплекс со стороны главного входа: круговой подъезд, входной портик, два корпуса по 5 этажей.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Вестибюль двойной высоты с раскрытием на панораму хребта.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Каждый номер раскрыт на панораму города и Заилийского Алатау, с собственным балконом на озеленённой ленте фасада.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Озеленённые террасы на лентах балконов, раскрытие на город и горы.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Главный аргумент для градсовета: сознательный отказ от высотности. При 1,4 га можно было поставить башню — вместо этого пять этажей и раскрытие видов.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4 446,9 м² — из ТЭП. 4446,9/17140,22 = 25,9 % ≈ 26 %.
Набор общественных функций — предложение бюро; окончательный состав за заказчиком и оператором.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ВАЖНО: 260–300 номеров — оценка бюро, а не утверждённая цифра. Так и формулировать.
База: 12 693,32 м² × 0,65 ≈ 8 250 м² полезной площади; ÷ 28–32 м² на номер. 12 693,32 / 17 140,22 = 74,1 %; 12 693,32 / 4 этажа = 3 173,3 м².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9 058,89 м² = 14 000 − 4 941,11. Это территория вне пятна застройки, включая проезды.
Отдельную долю озеленения не называть — баланс территории даётся на стадии ЭП.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ОСТОРОЖНО: на генплане парковочные места не размечены — видна только рампа въезда с запада. Не утверждать наличие подземного паркинга, пока это не подтверждено заказчиком.
Число машино-мест вписать до показа — это первый вопрос акимата.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Левая колонка — только то, что читается с генплана, ничего не приписано.
Правая — честный перечень открытых вопросов. Для градсовета это сильнее, чем заявление о полном соответствии всем нормам.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ВНИМАНИЕ: 160–210 рабочих мест — расчёт от отраслевого ориентира 0,6–0,7 сотрудника на номер для гостиниц 4 звезды, применённого к оценке 260–300 номеров. Это оценка, не факт.
Четыре поля справа обязательно заполнить данными заказчика до показа.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Сроки намеренно не проставлены — их даёт заказчик.
Если спросят на встрече, а цифр нет — честнее сказать, что график формируется после эскизного проекта.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Закрывающий слайд. Три запроса сформулированы как типовые для градсовета — скорректировать под фактическую повестку встречи.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" y="658368"/>
            <a:ext cx="153619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78408" y="658368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bureau</a:t>
            </a:r>
            <a:endParaRPr lang="en-US" sz="950" dirty="0"/>
          </a:p>
        </p:txBody>
      </p:sp>
      <p:sp>
        <p:nvSpPr>
          <p:cNvPr id="4" name="Text 2"/>
          <p:cNvSpPr txBox="1"/>
          <p:nvPr/>
        </p:nvSpPr>
        <p:spPr>
          <a:xfrm>
            <a:off x="978408" y="22860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 HOTEL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978408" y="257860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гостиничный комплекс категории 4 звезды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978408" y="27706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г. Алматы, ул. Бухтарминская</a:t>
            </a:r>
            <a:endParaRPr lang="en-US" sz="950" dirty="0"/>
          </a:p>
        </p:txBody>
      </p:sp>
      <p:pic>
        <p:nvPicPr>
          <p:cNvPr id="7" name="Image 0" descr="/tmp/claude-0/-home-user-most/9fc1ec31-3c64-5a82-aadb-ddb23fff6e53/scratchpad/assets/logo_m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9864" y="3063240"/>
            <a:ext cx="649224" cy="72237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978408" y="3520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architects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kazakhstan/almaty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7555687" y="352044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презентация для акимата г. Алматы</a:t>
            </a:r>
            <a:endParaRPr lang="en-US" sz="8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август 2026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3325216" y="5870448"/>
            <a:ext cx="120700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FF4D23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25216" y="587044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концепция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69968" y="5870448"/>
            <a:ext cx="120700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69968" y="587044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генплан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214720" y="5870448"/>
            <a:ext cx="120700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14720" y="587044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659472" y="5870448"/>
            <a:ext cx="166420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659472" y="5870448"/>
            <a:ext cx="1664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рабочая документация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Расположение и градостроительный контекст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СИТУАЦИОННАЯ СХЕМА</a:t>
            </a:r>
            <a:endParaRPr lang="en-US" sz="950" dirty="0"/>
          </a:p>
        </p:txBody>
      </p:sp>
      <p:pic>
        <p:nvPicPr>
          <p:cNvPr id="5" name="Image 0" descr="/tmp/claude-0/-home-user-most/9fc1ec31-3c64-5a82-aadb-ddb23fff6e53/scratchpad/assets/genplan_contex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868680"/>
            <a:ext cx="6053328" cy="56692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903720" y="896112"/>
            <a:ext cx="472104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Участок расположен вдоль ул. Бухтарминской и имеет форму вытянутого треугольника. С северо-востока он выходит на улицу, с запада и юга ограничен внутриквартальными проездами.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903720" y="2057400"/>
            <a:ext cx="4721047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03720" y="2240280"/>
            <a:ext cx="4721047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Территория свободна от капитальной застройки — снос и расселение не требуются.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Окружение деловое и производственное: АЗС, склады, коммерческие объекты. Жилая застройка не примыкает вплотную.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Участок обслуживается по всему периметру существующими проездами — новых транзитных связей не требуется.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Прямой выход на ул. Бухтарминскую обеспечивает подъезд гостей и транспорта обслуживания.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903720" y="4709160"/>
            <a:ext cx="4721047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903720" y="4892040"/>
            <a:ext cx="472104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</a:t>
            </a:r>
            <a:pPr indent="0" marL="0">
              <a:buNone/>
            </a:pPr>
            <a:r>
              <a:rPr lang="en-US" sz="11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га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6903720" y="5312664"/>
            <a:ext cx="472104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ПЛОЩАДЬ ЗЕМЕЛЬНОГО УЧАСТКА</a:t>
            </a:r>
            <a:endParaRPr lang="en-US" sz="800" dirty="0"/>
          </a:p>
        </p:txBody>
      </p:sp>
      <p:pic>
        <p:nvPicPr>
          <p:cNvPr id="12" name="Image 1" descr="/tmp/claude-0/-home-user-most/9fc1ec31-3c64-5a82-aadb-ddb23fff6e53/scratchpad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ГЕНЕРАЛЬНЫЙ ПЛАН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Посадка комплекса на участок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ГЕНПЛАН</a:t>
            </a:r>
            <a:endParaRPr lang="en-US" sz="950" dirty="0"/>
          </a:p>
        </p:txBody>
      </p:sp>
      <p:pic>
        <p:nvPicPr>
          <p:cNvPr id="5" name="Image 0" descr="/tmp/claude-0/-home-user-most/9fc1ec31-3c64-5a82-aadb-ddb23fff6e53/scratchpad/assets/genplan_sit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6053328" cy="5212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903720" y="896112"/>
            <a:ext cx="472104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Два корпуса поставлены вдоль длинных сторон участка и раскрыты во двор. По периметру застройки — кольцевой проезд, между проездом и границей полоса озеленения.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903720" y="1920240"/>
            <a:ext cx="4721047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903720" y="2048256"/>
            <a:ext cx="472104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ОТСТУПЫ ЗАСТРОЙКИ ОТ ГРАНИЦ УЧАСТКА</a:t>
            </a:r>
            <a:endParaRPr lang="en-US" sz="850" dirty="0"/>
          </a:p>
        </p:txBody>
      </p:sp>
      <p:sp>
        <p:nvSpPr>
          <p:cNvPr id="9" name="Text 6"/>
          <p:cNvSpPr txBox="1"/>
          <p:nvPr/>
        </p:nvSpPr>
        <p:spPr>
          <a:xfrm>
            <a:off x="6903720" y="2322576"/>
            <a:ext cx="118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</a:t>
            </a:r>
            <a:pPr indent="0" marL="0">
              <a:buNone/>
            </a:pPr>
            <a:r>
              <a:rPr lang="en-US" sz="9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903720" y="2651760"/>
            <a:ext cx="118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spc="2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ЗАПАД</a:t>
            </a:r>
            <a:endParaRPr lang="en-US" sz="750" dirty="0"/>
          </a:p>
        </p:txBody>
      </p:sp>
      <p:sp>
        <p:nvSpPr>
          <p:cNvPr id="11" name="Text 8"/>
          <p:cNvSpPr txBox="1"/>
          <p:nvPr/>
        </p:nvSpPr>
        <p:spPr>
          <a:xfrm>
            <a:off x="8083982" y="2322576"/>
            <a:ext cx="118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</a:t>
            </a:r>
            <a:pPr indent="0" marL="0">
              <a:buNone/>
            </a:pPr>
            <a:r>
              <a:rPr lang="en-US" sz="9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8083982" y="2651760"/>
            <a:ext cx="118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spc="2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СЕВЕРО-ВОСТОК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9264244" y="2322576"/>
            <a:ext cx="118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17,49</a:t>
            </a:r>
            <a:pPr indent="0" marL="0">
              <a:buNone/>
            </a:pPr>
            <a:r>
              <a:rPr lang="en-US" sz="9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9264244" y="2651760"/>
            <a:ext cx="118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spc="2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ВОСТОК</a:t>
            </a:r>
            <a:endParaRPr lang="en-US" sz="750" dirty="0"/>
          </a:p>
        </p:txBody>
      </p:sp>
      <p:sp>
        <p:nvSpPr>
          <p:cNvPr id="15" name="Text 12"/>
          <p:cNvSpPr txBox="1"/>
          <p:nvPr/>
        </p:nvSpPr>
        <p:spPr>
          <a:xfrm>
            <a:off x="10444505" y="2322576"/>
            <a:ext cx="118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6,00</a:t>
            </a:r>
            <a:pPr indent="0" marL="0">
              <a:buNone/>
            </a:pPr>
            <a:r>
              <a:rPr lang="en-US" sz="9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10444505" y="2651760"/>
            <a:ext cx="118026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000"/>
              </a:lnSpc>
              <a:buNone/>
            </a:pPr>
            <a:r>
              <a:rPr lang="en-US" sz="750" spc="2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ЮГ</a:t>
            </a:r>
            <a:endParaRPr lang="en-US" sz="750" dirty="0"/>
          </a:p>
        </p:txBody>
      </p:sp>
      <p:sp>
        <p:nvSpPr>
          <p:cNvPr id="17" name="Shape 14"/>
          <p:cNvSpPr/>
          <p:nvPr/>
        </p:nvSpPr>
        <p:spPr>
          <a:xfrm>
            <a:off x="6903720" y="3108960"/>
            <a:ext cx="4721047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903720" y="3291840"/>
            <a:ext cx="4721047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Кольцевой проезд замкнут вокруг обоих корпусов: подъезд ко всем входам и разворот пожарной техники.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узел въезда организован в западной части участка, со стороны внутриквартального проезда.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Рядовая посадка деревьев по всему периметру формирует буфер между застройкой и границами участка.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Внутренний двор между корпусами защищён от улицы.</a:t>
            </a:r>
            <a:endParaRPr lang="en-US" sz="1050" dirty="0"/>
          </a:p>
        </p:txBody>
      </p:sp>
      <p:pic>
        <p:nvPicPr>
          <p:cNvPr id="19" name="Image 1" descr="/tmp/claude-0/-home-user-most/9fc1ec31-3c64-5a82-aadb-ddb23fff6e53/scratchpad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ПОКАЗАТЕЛИ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Технико-экономические показатели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ТЭП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9601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ОБЩИЕ ТЭП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3794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Показатели приведены по проекту генерального плана. Расчётные коэффициенты получены из них арифметически.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3794760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331720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Застроено 35,3 % участка — 4 941,11 м² из 14 000 м².</a:t>
            </a:r>
            <a:endParaRPr lang="en-US" sz="1000" dirty="0"/>
          </a:p>
          <a:p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Коэффициент использования территории 1,22 — 17 140,22 м² на 14 000 м².</a:t>
            </a:r>
            <a:endParaRPr lang="en-US" sz="1000" dirty="0"/>
          </a:p>
          <a:p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 пятна застройки 9 058,89 м², или 64,7 % участка.</a:t>
            </a:r>
            <a:endParaRPr lang="en-US" sz="1000" dirty="0"/>
          </a:p>
          <a:p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400"/>
              </a:lnSpc>
              <a:spcAft>
                <a:spcPts val="9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Номерной фонд занимает 74,1 % общей площади здания.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960120"/>
          <a:ext cx="6949440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27432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spc="30" kern="0" dirty="0">
                          <a:solidFill>
                            <a:srgbClr val="FF4D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Показатель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27000" marB="127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50" b="1" spc="30" kern="0" dirty="0">
                          <a:solidFill>
                            <a:srgbClr val="FF4D2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Значение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27000" marB="127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11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Площадь земельного участка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27000" marB="127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 га (14 000 м²)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27000" marB="127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Площадь застройки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27000" marB="127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4 941,11 м²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27000" marB="127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Площадь 1-го этажа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27000" marB="127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4 446,9 м²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27000" marB="127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333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Площадь номерного фонда (этажи 2–5)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27000" marB="127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12 693,32 м²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27000" marB="127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Общая площадь здания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27000" marB="127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17 140,22 м²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27000" marB="127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Этажность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27000" marB="127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1111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этажей, два корпуса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0" marR="0" marT="127000" marB="1270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DCDC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709160" y="443484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Источник: общие ТЭП генерального плана</a:t>
            </a:r>
            <a:endParaRPr lang="en-US" sz="800" dirty="0"/>
          </a:p>
        </p:txBody>
      </p:sp>
      <p:sp>
        <p:nvSpPr>
          <p:cNvPr id="11" name="Text 8"/>
          <p:cNvSpPr txBox="1"/>
          <p:nvPr/>
        </p:nvSpPr>
        <p:spPr>
          <a:xfrm>
            <a:off x="4709160" y="5029200"/>
            <a:ext cx="213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35,3</a:t>
            </a:r>
            <a:pPr indent="0" marL="0">
              <a:buNone/>
            </a:pPr>
            <a:r>
              <a:rPr lang="en-US" sz="11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%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4709160" y="5449824"/>
            <a:ext cx="213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КОЭФФИЦИЕНТ ЗАСТРОЙКИ</a:t>
            </a:r>
            <a:endParaRPr lang="en-US" sz="800" dirty="0"/>
          </a:p>
        </p:txBody>
      </p:sp>
      <p:sp>
        <p:nvSpPr>
          <p:cNvPr id="13" name="Text 10"/>
          <p:cNvSpPr txBox="1"/>
          <p:nvPr/>
        </p:nvSpPr>
        <p:spPr>
          <a:xfrm>
            <a:off x="7025640" y="5029200"/>
            <a:ext cx="213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1,22</a:t>
            </a:r>
            <a:pPr indent="0" marL="0">
              <a:buNone/>
            </a:pP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7025640" y="5449824"/>
            <a:ext cx="213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КОЭФФИЦИЕНТ ИСПОЛЬЗОВАНИЯ ТЕРРИТОРИИ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9342120" y="5029200"/>
            <a:ext cx="2133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64,7</a:t>
            </a:r>
            <a:pPr indent="0" marL="0">
              <a:buNone/>
            </a:pPr>
            <a:r>
              <a:rPr lang="en-US" sz="11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%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9342120" y="5449824"/>
            <a:ext cx="213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СВОБОДНО ОТ ЗАСТРОЙКИ</a:t>
            </a:r>
            <a:endParaRPr lang="en-US" sz="800" dirty="0"/>
          </a:p>
        </p:txBody>
      </p:sp>
      <p:pic>
        <p:nvPicPr>
          <p:cNvPr id="17" name="Image 0" descr="/tmp/claude-0/-home-user-most/9fc1ec31-3c64-5a82-aadb-ddb23fff6e53/scratchpad/assets/logo_m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ost/9fc1ec31-3c64-5a82-aadb-ddb23fff6e53/scratchpad/assets/facad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ФАСАД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Въездная группа со стороны ул. Бухтарминской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ВИЗУАЛИЗАЦИИ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5571439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 HOTEL</a:t>
            </a:r>
            <a:endParaRPr lang="en-US" sz="900" dirty="0"/>
          </a:p>
        </p:txBody>
      </p:sp>
      <p:pic>
        <p:nvPicPr>
          <p:cNvPr id="7" name="Image 1" descr="/tmp/claude-0/-home-user-most/9fc1ec31-3c64-5a82-aadb-ddb23fff6e53/scratchpad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ost/9fc1ec31-3c64-5a82-aadb-ddb23fff6e53/scratchpad/assets/lobby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ВХОДНАЯ ГРУППА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Лобби и зона приёма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ВИЗУАЛИЗАЦИИ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5571439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 HOTEL</a:t>
            </a:r>
            <a:endParaRPr lang="en-US" sz="900" dirty="0"/>
          </a:p>
        </p:txBody>
      </p:sp>
      <p:pic>
        <p:nvPicPr>
          <p:cNvPr id="7" name="Image 1" descr="/tmp/claude-0/-home-user-most/9fc1ec31-3c64-5a82-aadb-ddb23fff6e53/scratchpad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ost/9fc1ec31-3c64-5a82-aadb-ddb23fff6e53/scratchpad/assets/room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НОМЕРНОЙ ФОНД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Номер с балконом верхнего яруса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ВИЗУАЛИЗАЦИИ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5571439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 HOTEL</a:t>
            </a:r>
            <a:endParaRPr lang="en-US" sz="900" dirty="0"/>
          </a:p>
        </p:txBody>
      </p:sp>
      <p:pic>
        <p:nvPicPr>
          <p:cNvPr id="7" name="Image 1" descr="/tmp/claude-0/-home-user-most/9fc1ec31-3c64-5a82-aadb-ddb23fff6e53/scratchpad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most/9fc1ec31-3c64-5a82-aadb-ddb23fff6e53/scratchpad/assets/terrace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ОБЩЕСТВЕННЫЕ ПРОСТРАНСТВА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Терраса верхнего яруса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ВИЗУАЛИЗАЦИИ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5571439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AURORA HOTEL</a:t>
            </a:r>
            <a:endParaRPr lang="en-US" sz="900" dirty="0"/>
          </a:p>
        </p:txBody>
      </p:sp>
      <p:pic>
        <p:nvPicPr>
          <p:cNvPr id="7" name="Image 1" descr="/tmp/claude-0/-home-user-most/9fc1ec31-3c64-5a82-aadb-ddb23fff6e53/scratchpad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Объёмно-пространственное решение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КОНЦЕПЦИЯ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9601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ГОРИЗОНТАЛЬ ВМЕСТО ВЫСОТЫ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3794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Объём набран горизонтальными лентами перекрытий с плавными скруглениями. Пять этажей вместо башни: комплекс не спорит с панорамой гор и не перекрывает виды соседней застройки. Ленты балконов и террас озеленены по всей длине — зелень становится частью фасада, а не только партера.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651760"/>
            <a:ext cx="3794760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834640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Сомасштабность: 5 этажей — в габаритах окружающей застройки, без доминанты.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Озеленённые террасы на каждом ярусе балконов по всей длине фасада.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Раскрытие на горы: номера и общественные террасы ориентированы на панораму.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Входная группа выделена высоким портиком с круговым подъездом.</a:t>
            </a:r>
            <a:endParaRPr lang="en-US" sz="1050" dirty="0"/>
          </a:p>
        </p:txBody>
      </p:sp>
      <p:pic>
        <p:nvPicPr>
          <p:cNvPr id="9" name="Image 0" descr="/tmp/claude-0/-home-user-most/9fc1ec31-3c64-5a82-aadb-ddb23fff6e53/scratchpad/assets/facad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960120"/>
            <a:ext cx="6949440" cy="391363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709160" y="52578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indent="0" marL="0">
              <a:buNone/>
            </a:pPr>
            <a:r>
              <a:rPr lang="en-US" sz="11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этажей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4709160" y="5678424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ЭТАЖНОСТЬ ОБОИХ КОРПУСОВ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7086600" y="5257800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17 140,22</a:t>
            </a:r>
            <a:pPr indent="0" marL="0">
              <a:buNone/>
            </a:pPr>
            <a:r>
              <a:rPr lang="en-US" sz="11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м²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7086600" y="567842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ОБЩАЯ ПЛОЩАДЬ ЗДАНИЯ</a:t>
            </a:r>
            <a:endParaRPr lang="en-US" sz="800" dirty="0"/>
          </a:p>
        </p:txBody>
      </p:sp>
      <p:pic>
        <p:nvPicPr>
          <p:cNvPr id="14" name="Image 1" descr="/tmp/claude-0/-home-user-most/9fc1ec31-3c64-5a82-aadb-ddb23fff6e53/scratchpad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ФУНКЦИЯ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Функциональное зонирование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ЭТАЖ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9601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ЭТАЖ — ОБЩЕСТВЕННЫЙ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3794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4 446,9 м² первого этажа — четверть всей площади комплекса — отданы функциям, которыми пользуются не только постояльцы.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514600"/>
            <a:ext cx="3794760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697480"/>
            <a:ext cx="3794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Лобби и стойка приёма: круговой подъезд, зона высадки, вестибюль двойной высоты.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Рестораны и кафе — работают на город, а не только на гостей гостиницы.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Конференц-зона для деловых мероприятий и городских событий.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Оздоровительный блок: СПА и фитнес. Состав уточняется на стадии эскизного проекта.</a:t>
            </a:r>
            <a:endParaRPr lang="en-US" sz="1050" dirty="0"/>
          </a:p>
        </p:txBody>
      </p:sp>
      <p:pic>
        <p:nvPicPr>
          <p:cNvPr id="9" name="Image 0" descr="/tmp/claude-0/-home-user-most/9fc1ec31-3c64-5a82-aadb-ddb23fff6e53/scratchpad/assets/lobb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960120"/>
            <a:ext cx="6949440" cy="391363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709160" y="5257800"/>
            <a:ext cx="3291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4 446,9</a:t>
            </a:r>
            <a:pPr indent="0" marL="0">
              <a:buNone/>
            </a:pPr>
            <a:r>
              <a:rPr lang="en-US" sz="11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м²</a:t>
            </a:r>
            <a:endParaRPr lang="en-US" sz="2600" dirty="0"/>
          </a:p>
        </p:txBody>
      </p:sp>
      <p:sp>
        <p:nvSpPr>
          <p:cNvPr id="11" name="Text 8"/>
          <p:cNvSpPr txBox="1"/>
          <p:nvPr/>
        </p:nvSpPr>
        <p:spPr>
          <a:xfrm>
            <a:off x="4709160" y="567842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ПЛОЩАДЬ ПЕРВОГО ЭТАЖА</a:t>
            </a:r>
            <a:endParaRPr lang="en-US" sz="8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525780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pPr indent="0" marL="0">
              <a:buNone/>
            </a:pPr>
            <a:r>
              <a:rPr lang="en-US" sz="11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%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8183880" y="567842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ПЕРВОГО ЭТАЖА В ОБЩЕЙ ПЛОЩАДИ</a:t>
            </a:r>
            <a:endParaRPr lang="en-US" sz="800" dirty="0"/>
          </a:p>
        </p:txBody>
      </p:sp>
      <p:pic>
        <p:nvPicPr>
          <p:cNvPr id="14" name="Image 1" descr="/tmp/claude-0/-home-user-most/9fc1ec31-3c64-5a82-aadb-ddb23fff6e53/scratchpad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НОМЕРНОЙ ФОНД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Этажи со 2-го по 5-й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ЁМКОСТЬ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9601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НОМЕРНОЙ ФОНД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Этажи со 2-го по 5-й полностью отданы номерам: 12 693,32 м², или 74,1 % общей площади здания.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3794760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56032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12 693,32</a:t>
            </a:r>
            <a:pPr indent="0" marL="0">
              <a:buNone/>
            </a:pPr>
            <a:r>
              <a:rPr lang="en-US" sz="11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м²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98094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ПЛОЩАДЬ НОМЕРНОГО ФОНДА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356616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3 173</a:t>
            </a:r>
            <a:pPr indent="0" marL="0">
              <a:buNone/>
            </a:pPr>
            <a:r>
              <a:rPr lang="en-US" sz="11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м²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398678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СРЕДНЯЯ ПЛОЩАДЬ ЭТАЖА НОМЕРНОГО КОРПУСА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02920" y="4572000"/>
            <a:ext cx="3794760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" y="470001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ЁМКОСТЬ — ПРЕДВАРИТЕЛЬНАЯ ОЦЕНКА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4956048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260 – 300</a:t>
            </a:r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номеров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5413248"/>
            <a:ext cx="3794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 от 12 693,32 м² при полезной площади этажа около 65 % и номере 28–32 м². Точная ёмкость определяется планировками на стадии эскизного проекта.</a:t>
            </a:r>
            <a:endParaRPr lang="en-US" sz="900" dirty="0"/>
          </a:p>
        </p:txBody>
      </p:sp>
      <p:pic>
        <p:nvPicPr>
          <p:cNvPr id="16" name="Image 0" descr="/tmp/claude-0/-home-user-most/9fc1ec31-3c64-5a82-aadb-ddb23fff6e53/scratchpad/assets/roo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960120"/>
            <a:ext cx="6949440" cy="4636008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4709160" y="566928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Типовой номер: балкон на озеленённой ленте фасада, раскрытие на город и хребет.</a:t>
            </a:r>
            <a:endParaRPr lang="en-US" sz="800" dirty="0"/>
          </a:p>
        </p:txBody>
      </p:sp>
      <p:pic>
        <p:nvPicPr>
          <p:cNvPr id="18" name="Image 1" descr="/tmp/claude-0/-home-user-most/9fc1ec31-3c64-5a82-aadb-ddb23fff6e53/scratchpad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БЛАГОУСТРОЙСТВО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Озеленение и открытые пространства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ФРАГМЕНТ ГЕНПЛАНА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9601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ДВЕ ТРЕТИ УЧАСТКА ОТКРЫТЫ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25880"/>
            <a:ext cx="3794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Вне пятна застройки остаётся 9 058,89 м² — 64,7 % участка. Это площадь под проезды, площадки и озеленение.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2377440"/>
            <a:ext cx="3794760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560320"/>
            <a:ext cx="3794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9 058,89</a:t>
            </a:r>
            <a:pPr indent="0" marL="0">
              <a:buNone/>
            </a:pPr>
            <a:r>
              <a:rPr lang="en-US" sz="11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м²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980944"/>
            <a:ext cx="3794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ТЕРРИТОРИЯ ВНЕ ПЯТНА ЗАСТРОЙКИ — 64,7 %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502920" y="3566160"/>
            <a:ext cx="3794760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3749040"/>
            <a:ext cx="3794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Рядовая посадка деревьев по всему периметру: зелёная полоса отделяет застройку от границ участка и улицы.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Внутренний двор между корпусами — защищённое от улицы пространство отдыха.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Озеленение на террасах продолжает партер вверх по фасаду.</a:t>
            </a:r>
            <a:endParaRPr lang="en-US" sz="1050" dirty="0"/>
          </a:p>
        </p:txBody>
      </p:sp>
      <p:pic>
        <p:nvPicPr>
          <p:cNvPr id="12" name="Image 0" descr="/tmp/claude-0/-home-user-most/9fc1ec31-3c64-5a82-aadb-ddb23fff6e53/scratchpad/assets/gre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960120"/>
            <a:ext cx="6949440" cy="463600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709160" y="566928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Фрагмент генплана: полоса озеленения между проездом и границей участка.</a:t>
            </a:r>
            <a:endParaRPr lang="en-US" sz="800" dirty="0"/>
          </a:p>
        </p:txBody>
      </p:sp>
      <p:pic>
        <p:nvPicPr>
          <p:cNvPr id="14" name="Image 1" descr="/tmp/claude-0/-home-user-most/9fc1ec31-3c64-5a82-aadb-ddb23fff6e53/scratchpad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ТРАНСПОРТ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Въезды, проезды и хранение автомобилей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УЗЕЛ ВЪЕЗДА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96012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ОБСЛУЖИВАНИЕ УЧАСТКА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371600"/>
            <a:ext cx="3794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Единый узел въезда в западной части участка, со стороны внутриквартального проезда, а не напрямую с ул. Бухтарминской — уличный поток не разрывается.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Кольцевой проезд вокруг застройки: подъезд ко всем входам, разгрузка и проезд пожарной техники.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9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Круговой подъезд к главному входу отделён от хозяйственного двора.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02920" y="4206240"/>
            <a:ext cx="3794760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4334256"/>
            <a:ext cx="3794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МАШИНО-МЕСТА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4590288"/>
            <a:ext cx="3794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Количество и тип парковки определяются расчётом по нормативу к утверждённой ёмкости номерного фонда на стадии эскизного проекта.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5440680"/>
            <a:ext cx="246888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FF4D2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2920" y="54406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вписать: ____ машино-мест</a:t>
            </a:r>
            <a:endParaRPr lang="en-US" sz="900" dirty="0"/>
          </a:p>
        </p:txBody>
      </p:sp>
      <p:pic>
        <p:nvPicPr>
          <p:cNvPr id="12" name="Image 0" descr="/tmp/claude-0/-home-user-most/9fc1ec31-3c64-5a82-aadb-ddb23fff6e53/scratchpad/assets/entran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09160" y="960120"/>
            <a:ext cx="6949440" cy="4636008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4709160" y="5669280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Фрагмент генплана: узел въезда в западной части участка.</a:t>
            </a:r>
            <a:endParaRPr lang="en-US" sz="800" dirty="0"/>
          </a:p>
        </p:txBody>
      </p:sp>
      <p:pic>
        <p:nvPicPr>
          <p:cNvPr id="14" name="Image 1" descr="/tmp/claude-0/-home-user-most/9fc1ec31-3c64-5a82-aadb-ddb23fff6e53/scratchpad/assets/logo_mo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РЕГЛАМЕНТЫ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Статус проработки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НОРМЫ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515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ПОДТВЕРЖДЕНО ГЕНПЛАНОМ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" y="1417320"/>
            <a:ext cx="53949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" y="1627632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Отступы от границ участка: 6,00 м с запада и юга, 3,00 м с северо-востока, 17,49 м с востока — вынесены на чертёж.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Этажность: 5 этажей по обоим корпусам, без превышения высотных отметок соседней застройки.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Пожарный проезд: замкнутый кольцевой проезд вокруг пятна застройки.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Плотность застройки: 35,3 % участка, коэффициент использования территории 1,22.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Озеленение: рядовая посадка деревьев по всему периметру участка.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766560" y="10515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УТОЧНЯЕТСЯ НА СТАДИИ ЭП И ПСД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66560" y="1417320"/>
            <a:ext cx="5394960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766560" y="1627632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 машино-мест по нормативу для гостиниц, от утверждённой ёмкости номерного фонда.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Баланс территории раздельно: озеленение, покрытия, проезды, площадки.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Инженерное обеспечение: технические условия на воду, канализацию, тепло и электроснабжение.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Расчёты инсоляции и шума по отношению к смежным землепользованиям.</a:t>
            </a:r>
            <a:endParaRPr lang="en-US" sz="1050" dirty="0"/>
          </a:p>
          <a:p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500"/>
              </a:lnSpc>
              <a:spcAft>
                <a:spcPts val="1100"/>
              </a:spcAft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Планировочные решения этажей и итоговая ёмкость номерного фонда.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4892040"/>
            <a:ext cx="11183112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50292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ПОКАЗАТЕЛИ, ПРОВЕРЯЕМЫЕ ГРАДОСТРОИТЕЛЬНЫМ СОВЕТОМ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502920" y="5349240"/>
            <a:ext cx="25214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pPr indent="0" marL="0">
              <a:buNone/>
            </a:pPr>
            <a:r>
              <a:rPr lang="en-US" sz="11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этажей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5769864"/>
            <a:ext cx="2521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ЭТАЖНОСТЬ ОБОИХ КОРПУСОВ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3298698" y="5349240"/>
            <a:ext cx="25214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35,3</a:t>
            </a:r>
            <a:pPr indent="0" marL="0">
              <a:buNone/>
            </a:pPr>
            <a:r>
              <a:rPr lang="en-US" sz="11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%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3298698" y="5769864"/>
            <a:ext cx="2521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КОЭФФИЦИЕНТ ЗАСТРОЙКИ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6094476" y="5349240"/>
            <a:ext cx="25214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1,22</a:t>
            </a:r>
            <a:pPr indent="0" marL="0">
              <a:buNone/>
            </a:pP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094476" y="5769864"/>
            <a:ext cx="2521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КОЭФФИЦИЕНТ ИСПОЛЬЗОВАНИЯ ТЕРРИТОРИИ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8890254" y="5349240"/>
            <a:ext cx="252145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64,7</a:t>
            </a:r>
            <a:pPr indent="0" marL="0">
              <a:buNone/>
            </a:pPr>
            <a:r>
              <a:rPr lang="en-US" sz="11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%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8890254" y="5769864"/>
            <a:ext cx="252145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СВОБОДНО ОТ ЗАСТРОЙКИ</a:t>
            </a:r>
            <a:endParaRPr lang="en-US" sz="800" dirty="0"/>
          </a:p>
        </p:txBody>
      </p:sp>
      <p:pic>
        <p:nvPicPr>
          <p:cNvPr id="21" name="Image 0" descr="/tmp/claude-0/-home-user-most/9fc1ec31-3c64-5a82-aadb-ddb23fff6e53/scratchpad/assets/logo_m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ЭФФЕКТ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Социально-экономический эффект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ДЛЯ ГОРОДА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5156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260 – 300</a:t>
            </a:r>
            <a:pPr indent="0" marL="0">
              <a:buNone/>
            </a:pP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14721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НОМЕРОВ 4 ЗВЕЗДЫ К ФОНДУ АЛМАТЫ (ОЦЕНКА)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4160520" y="105156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160 – 210</a:t>
            </a:r>
            <a:pPr indent="0" marL="0">
              <a:buNone/>
            </a:pP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160520" y="14721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ПОСТОЯННЫХ РАБОЧИХ МЕСТ В ГОСТИНИЦЕ (ОЦЕНКА)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7818120" y="105156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17 140</a:t>
            </a:r>
            <a:pPr indent="0" marL="0">
              <a:buNone/>
            </a:pPr>
            <a:r>
              <a:rPr lang="en-US" sz="11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м²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818120" y="1472184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00" spc="30" kern="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ВВОД НОВЫХ ПЛОЩАДЕЙ В НАЛОГООБЛАГАЕМУЮ БАЗУ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02920" y="2286000"/>
            <a:ext cx="11183112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542032"/>
            <a:ext cx="5577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spcAft>
                <a:spcPts val="1300"/>
              </a:spcAft>
              <a:buNone/>
            </a:pPr>
            <a:r>
              <a:rPr lang="en-US" sz="11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600"/>
              </a:lnSpc>
              <a:spcAft>
                <a:spcPts val="1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Загрузка ранее неиспользуемого участка: свободная территория в деловом окружении получает капитальную функцию без сноса и расселения.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1300"/>
              </a:spcAft>
              <a:buNone/>
            </a:pPr>
            <a:r>
              <a:rPr lang="en-US" sz="11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600"/>
              </a:lnSpc>
              <a:spcAft>
                <a:spcPts val="1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Круглогодичный турпоток: деловой сегмент зимой и осенью, горный и событийный туризм летом.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1300"/>
              </a:spcAft>
              <a:buNone/>
            </a:pPr>
            <a:r>
              <a:rPr lang="en-US" sz="11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600"/>
              </a:lnSpc>
              <a:spcAft>
                <a:spcPts val="1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Общественные функции для района: рестораны и конференц-зона первого этажа работают на город, а не только на постояльцев.</a:t>
            </a:r>
            <a:endParaRPr lang="en-US" sz="1100" dirty="0"/>
          </a:p>
          <a:p>
            <a:pPr indent="0" marL="0">
              <a:lnSpc>
                <a:spcPts val="1600"/>
              </a:lnSpc>
              <a:spcAft>
                <a:spcPts val="1300"/>
              </a:spcAft>
              <a:buNone/>
            </a:pPr>
            <a:r>
              <a:rPr lang="en-US" sz="11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600"/>
              </a:lnSpc>
              <a:spcAft>
                <a:spcPts val="1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4 446,9 м² общественного первого этажа — новая точка притяжения в квартале, доступная не только постояльцам.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6766560" y="2542032"/>
            <a:ext cx="48582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3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ПОКАЗАТЕЛИ, КОТОРЫЕ ВНОСИТ ЗАКАЗЧИК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907792"/>
            <a:ext cx="3012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Объём инвестиций, млрд ₸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9778648" y="2907792"/>
            <a:ext cx="18461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66560" y="3218688"/>
            <a:ext cx="4858207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766560" y="3419856"/>
            <a:ext cx="3012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Налоговые поступления в год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9778648" y="3419856"/>
            <a:ext cx="18461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3730752"/>
            <a:ext cx="4858207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766560" y="3931920"/>
            <a:ext cx="3012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Рабочие места на период строительства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778648" y="3931920"/>
            <a:ext cx="18461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766560" y="4242816"/>
            <a:ext cx="4858207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766560" y="4443984"/>
            <a:ext cx="3012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Гостиничный оператор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9778648" y="4443984"/>
            <a:ext cx="18461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766560" y="4754880"/>
            <a:ext cx="4858207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766560" y="4956048"/>
            <a:ext cx="3012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Планируемый срок ввода в эксплуатацию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9778648" y="4956048"/>
            <a:ext cx="18461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____________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766560" y="5266944"/>
            <a:ext cx="4858207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02920" y="589788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i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Ёмкость номерного фонда и численность персонала указаны оценочно и подлежат уточнению после утверждения планировочных решений.</a:t>
            </a:r>
            <a:endParaRPr lang="en-US" sz="850" dirty="0"/>
          </a:p>
        </p:txBody>
      </p:sp>
      <p:pic>
        <p:nvPicPr>
          <p:cNvPr id="30" name="Image 0" descr="/tmp/claude-0/-home-user-most/9fc1ec31-3c64-5a82-aadb-ddb23fff6e53/scratchpad/assets/logo_m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31" name="Text 28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19456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60" kern="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РЕАЛИЗАЦИЯ</a:t>
            </a:r>
            <a:endParaRPr lang="en-US" sz="950" dirty="0"/>
          </a:p>
        </p:txBody>
      </p:sp>
      <p:sp>
        <p:nvSpPr>
          <p:cNvPr id="3" name="Text 1"/>
          <p:cNvSpPr txBox="1"/>
          <p:nvPr/>
        </p:nvSpPr>
        <p:spPr>
          <a:xfrm>
            <a:off x="219456" y="374904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Этапы прохождения проекта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571439" y="164592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spc="6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ГРАФИК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0058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 находится на стадии проработки генерального плана и архитектурной концепции. Дальнейшие шаги требуют согласований с городом.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2286000"/>
            <a:ext cx="1635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2615184"/>
            <a:ext cx="1635252" cy="7315"/>
          </a:xfrm>
          <a:prstGeom prst="rect">
            <a:avLst/>
          </a:prstGeom>
          <a:solidFill>
            <a:srgbClr val="FF4D23"/>
          </a:solidFill>
          <a:ln w="12700">
            <a:solidFill>
              <a:srgbClr val="FF4D2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02920" y="2724912"/>
            <a:ext cx="16352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Концепция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236976"/>
            <a:ext cx="16352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Посадка на участок, ТЭП, архитектурное решение</a:t>
            </a:r>
            <a:endParaRPr lang="en-US" sz="85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4069080"/>
            <a:ext cx="16352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4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ВЫПОЛНЕНО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2412492" y="2286000"/>
            <a:ext cx="1635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12492" y="2615184"/>
            <a:ext cx="16352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412492" y="2724912"/>
            <a:ext cx="16352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Эскизный проект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412492" y="3236976"/>
            <a:ext cx="16352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Планировки, ёмкость фонда, расчёт парковки, баланс территории</a:t>
            </a:r>
            <a:endParaRPr lang="en-US" sz="850" dirty="0"/>
          </a:p>
        </p:txBody>
      </p:sp>
      <p:sp>
        <p:nvSpPr>
          <p:cNvPr id="15" name="Text 13"/>
          <p:cNvSpPr txBox="1"/>
          <p:nvPr/>
        </p:nvSpPr>
        <p:spPr>
          <a:xfrm>
            <a:off x="4322064" y="2286000"/>
            <a:ext cx="1635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22064" y="2615184"/>
            <a:ext cx="16352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322064" y="2724912"/>
            <a:ext cx="16352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Согласование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322064" y="3236976"/>
            <a:ext cx="16352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Градостроительный совет, архитектурно-планировочное задание</a:t>
            </a:r>
            <a:endParaRPr lang="en-US" sz="850" dirty="0"/>
          </a:p>
        </p:txBody>
      </p:sp>
      <p:sp>
        <p:nvSpPr>
          <p:cNvPr id="19" name="Text 17"/>
          <p:cNvSpPr txBox="1"/>
          <p:nvPr/>
        </p:nvSpPr>
        <p:spPr>
          <a:xfrm>
            <a:off x="6231636" y="2286000"/>
            <a:ext cx="1635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31636" y="2615184"/>
            <a:ext cx="16352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31636" y="2724912"/>
            <a:ext cx="16352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ПСД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231636" y="3236976"/>
            <a:ext cx="16352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Проектно-сметная и рабочая документация по всем разделам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8141208" y="2286000"/>
            <a:ext cx="1635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141208" y="2615184"/>
            <a:ext cx="16352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141208" y="2724912"/>
            <a:ext cx="16352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Экспертиза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8141208" y="3236976"/>
            <a:ext cx="16352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Комплексная вневедомственная экспертиза</a:t>
            </a:r>
            <a:endParaRPr lang="en-US" sz="850" dirty="0"/>
          </a:p>
        </p:txBody>
      </p:sp>
      <p:sp>
        <p:nvSpPr>
          <p:cNvPr id="27" name="Text 25"/>
          <p:cNvSpPr txBox="1"/>
          <p:nvPr/>
        </p:nvSpPr>
        <p:spPr>
          <a:xfrm>
            <a:off x="10050780" y="2286000"/>
            <a:ext cx="16352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0050780" y="2615184"/>
            <a:ext cx="1635252" cy="7315"/>
          </a:xfrm>
          <a:prstGeom prst="rect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050780" y="2724912"/>
            <a:ext cx="16352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Строительство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10050780" y="3236976"/>
            <a:ext cx="16352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СМР и ввод объекта в эксплуатацию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2920" y="5029200"/>
            <a:ext cx="11183112" cy="7315"/>
          </a:xfrm>
          <a:prstGeom prst="rect">
            <a:avLst/>
          </a:prstGeom>
          <a:solidFill>
            <a:srgbClr val="DCDCDC"/>
          </a:solidFill>
          <a:ln w="12700">
            <a:solidFill>
              <a:srgbClr val="DCDCDC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02920" y="5230368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Календарные сроки этапов и дата ввода объекта в эксплуатацию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720840" y="5230368"/>
            <a:ext cx="3108960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FF4D2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720840" y="52303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заполняется заказчиком до показа</a:t>
            </a:r>
            <a:endParaRPr lang="en-US" sz="900" dirty="0"/>
          </a:p>
        </p:txBody>
      </p:sp>
      <p:pic>
        <p:nvPicPr>
          <p:cNvPr id="35" name="Image 0" descr="/tmp/claude-0/-home-user-most/9fc1ec31-3c64-5a82-aadb-ddb23fff6e53/scratchpad/assets/logo_m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56848" y="5925312"/>
            <a:ext cx="630936" cy="704088"/>
          </a:xfrm>
          <a:prstGeom prst="rect">
            <a:avLst/>
          </a:prstGeom>
        </p:spPr>
      </p:pic>
      <p:sp>
        <p:nvSpPr>
          <p:cNvPr id="36" name="Text 33"/>
          <p:cNvSpPr txBox="1"/>
          <p:nvPr/>
        </p:nvSpPr>
        <p:spPr>
          <a:xfrm>
            <a:off x="219456" y="6455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" y="658368"/>
            <a:ext cx="1536192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4444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78408" y="658368"/>
            <a:ext cx="15361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architectural bureau</a:t>
            </a:r>
            <a:endParaRPr lang="en-US" sz="950" dirty="0"/>
          </a:p>
        </p:txBody>
      </p:sp>
      <p:pic>
        <p:nvPicPr>
          <p:cNvPr id="4" name="Image 0" descr="/tmp/claude-0/-home-user-most/9fc1ec31-3c64-5a82-aadb-ddb23fff6e53/scratchpad/assets/logo_m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9864" y="3063240"/>
            <a:ext cx="649224" cy="7223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78408" y="352044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architects</a:t>
            </a:r>
            <a:endParaRPr lang="en-US" sz="850" dirty="0"/>
          </a:p>
          <a:p>
            <a:pPr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kazakhstan/almaty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7555687" y="35204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most-a.com</a:t>
            </a:r>
            <a:endParaRPr lang="en-US" sz="8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e-mail: info@most-a.com</a:t>
            </a:r>
            <a:endParaRPr lang="en-US" sz="850" dirty="0"/>
          </a:p>
          <a:p>
            <a:pPr algn="r" indent="0" marL="0">
              <a:lnSpc>
                <a:spcPts val="1100"/>
              </a:lnSpc>
              <a:buNone/>
            </a:pPr>
            <a:r>
              <a:rPr lang="en-US" sz="85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 (771) 733 77 00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978408" y="141732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" kern="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МЫ ПРОСИМ У АКИМАТА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78408" y="178308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Рассмотреть и одобрить архитектурно-градостроительную концепцию комплекса.</a:t>
            </a:r>
            <a:endParaRPr lang="en-US" sz="1000" dirty="0"/>
          </a:p>
          <a:p>
            <a:pPr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Выдать архитектурно-планировочное задание для перехода к эскизному проекту.</a:t>
            </a:r>
            <a:endParaRPr lang="en-US" sz="1000" dirty="0"/>
          </a:p>
          <a:p>
            <a:pPr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lnSpc>
                <a:spcPts val="13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Определить технические условия на подключение к инженерным сетям.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92344" y="5870448"/>
            <a:ext cx="1207008" cy="310896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FF4D2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92344" y="5870448"/>
            <a:ext cx="1207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4D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концепция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MOST Architects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AURORA HOTEL — гостиничный комплекс, г. Алматы</dc:title>
  <dc:subject>PptxGenJS Presentation</dc:subject>
  <dc:creator>MOST Architects</dc:creator>
  <cp:lastModifiedBy>MOST Architects</cp:lastModifiedBy>
  <cp:revision>1</cp:revision>
  <dcterms:created xsi:type="dcterms:W3CDTF">2026-08-28T17:22:17Z</dcterms:created>
  <dcterms:modified xsi:type="dcterms:W3CDTF">2026-08-28T17:22:17Z</dcterms:modified>
</cp:coreProperties>
</file>