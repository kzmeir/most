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Титул. Стадия — concept. Объект: гостиничный комплекс с бизнес-центром, ул. Бухтарминская, участок 1,4 га.
Адресат на титуле не указан — дека универсальна.
Логика показа: два листа контекста — где участок и как село, — затем образ и весь визуальный ряд, и только после него схемы, материалы и цифры.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Второй лист: коротко отвечаем «где», чтобы дальше этот вопрос не всплывал посреди визуального ряда.
Главная мысль: город ничего не теряет. Территория пустая, никого не сносим и не расселяем.
По снимку видно окружение: промышленный пояс и железнодорожная магистраль с северо-востока, зелёные склоны и частный сектор с запада. Жилая застройка к участку не примыкает.
Если спросят про шум от железной дороги — расчёт шума вынесен в приложение как задача стадии ЭП, самому эту тему не поднимать.
АЗС: подтвердить тип станции и установленный размер СЗЗ до градсовета.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Чертёж генплана: два корпуса, кольцевой проезд, стоянки по периметру, рядовая посадка деревьев.
Выносные размеры на чертеже словами не подтверждать — если спросят конкретные отступы, сказать, что уточняются, и не называть цифру.
Отступы от границ на слайд намеренно не вынесены — цифры на чертеже уточняются. Если спросят конкретные значения, ссылаться на чертёж генплана, своих цифр не называть.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Переход от контекста к образу: дальше идут только кадры. Задаёт тон всему визуальному ряду.
Слайд намеренно без текста — картинка говорит сама, объяснение проговаривается устно.
Панорама хребта, которая открывается с участка, — исходная линия проекта: ломаная гряда в три шага сглаживается до горизонтальных лент перекрытий. Отсюда и отказ от высотности.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Главный фасад. Один кадр — одна мысль, комментировать коротко.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Лобби. Один кадр — одна мысль, комментировать коротко.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Лобби-лаунж. Один кадр — одна мысль, комментировать коротко.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Ресторан. Один кадр — одна мысль, комментировать коротко.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Конференц-зал. Один кадр — одна мысль, комментировать коротко.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Переговорная. Один кадр — одна мысль, комментировать коротко.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Коворкинг. Один кадр — одна мысль, комментировать коротко.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Фитнес. Один кадр — одна мысль, комментировать коротко.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Номер. Один кадр — одна мысль, комментировать коротко.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Общественная терраса. Один кадр — одна мысль, комментировать коротко.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Бизнес-центр — новая функция в составе комплекса, для акимата это постоянные рабочие места вне сезона.
Этажность на рендере и на генплане совпадает: пять этажей.
Голубым на генплане показана только выступающая часть бизнес-центра — 866 м² пятна. Остальные примерно 2 000 м² он занимает на верхних этажах гостиничного корпуса, поэтому 4 895,11 м² по ТЭП сходятся. Если спросят, где остальной объём, — ответ такой.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Лобби бизнес-центра. Один кадр — одна мысль, комментировать коротко.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Офисный этаж. Один кадр — одна мысль, комментировать коротко.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Вечерний вид. Один кадр — одна мысль, комментировать коротко.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Одна картинка вместо объяснений: первый этаж — общественная функция на город, выше — номера и офисы.
Зелёный: лобби, рестораны, конференц-залы, спа и фитнес, технические помещения — 4 483,04 м².
ВНИМАНИЕ: схема отрисована по прежней программе. По текущей второй этаж отеля занимает конференц-блок, номера остались на 3–5 этажах, бизнес-центр вырос. Схему надо перерисовать до показа, иначе она противоречит слайду показателей.
Жёлтый: номерной фонд — 4 616,00 м², 150 номеров на этажах 3–5.
Бордовый: бизнес-центр, этажи 2–5 — 4 895,11 м².
Главный тезис для акимата: весь первый этаж работает на город, а не только на постояльцев.
На схеме бизнес-центр показан отдельным стаканом. Часть его площадей — около 2 000 м² — фактически лежит на верхних этажах гостиничного корпуса; на схеме это не выделено.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Уровень архитектуры одним листом. Не зачитывать состав — назвать две-три позиции.
Стоит рядом с зонированием: там разбор по функциям, здесь — по материалам.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Цифры идут после всего визуального ряда: сначала показали объект, теперь считаем.
Готовность к вопросу: 22 415,20 = 5 этажей × 4 483,04. Полезная площадь 17 043,44 не включает коридоры, узлы и техпомещения — разница 5 371,76 м². Показывать надо общую.
150 номеров: 140 стандартных по 27,4 м² на этажах 3–4 и на пятом 8 люксов по 60 м² плюс два президентских по 150 м². Доля номеров повышенной категории 6,7 % — практика 4 звезды 6–12 %.
Ёмкость снижена сознательно, обоснование на следующем слайде — не оправдываться, а вести.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отвечает на вопрос, который задают первым: почему так мало номеров.
Ответ: ёмкость выбрана ниже рыночной нормы сознательно. Брендовый отель 4 звезды в Алматы — это 190–230 номеров, рынок поглощает 150–300 номеров в год. Проект берёт 150 — менее года ёмкости поглощения и 1,23 % фонда города.
Готовность к вопросу о риске загрузки: 69,5 % в 2024 — рекорд, среднее за девять лет 54 %. Если спросят про устойчивость этого уровня — не спорить, а переходить на следующий слайд: от суточной загрузки зависит лишь 27 % площадей.
Если спросят про риск загрузки — переходить к следующему слайду, там ответ по структуре выручки.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Прямой ответ на страх незаполняемости. Сокращение номерного фонда не выбрасывает площадь — она уходит в бизнес-центр, а он сдаётся по договору, а не по суточной загрузке.
Конференц-блок тоже сдаётся сторонним заказчикам и при этом сам генерирует спрос на номера: делегаты закрывают будние ночи, которых у отеля вне центра города иначе нет.
Занятость: гостиница 90–105, конференц-центр 16–24, офисы 502–603 — всего 608–732 постоянных места.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Технический слайд, вынесен в приложение, чтобы не тормозить историю.
Показывать по запросу или оставить в раздатке.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запроса к акимату проговариваются здесь: одобрить архитектурно-градостроительную концепцию, выдать АПЗ для перехода к эскизному проекту, определить технические условия на подключение к сетям.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" y="658368"/>
            <a:ext cx="1536192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4444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78408" y="658368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bureau</a:t>
            </a:r>
            <a:endParaRPr lang="en-US" sz="950" dirty="0"/>
          </a:p>
        </p:txBody>
      </p:sp>
      <p:pic>
        <p:nvPicPr>
          <p:cNvPr id="4" name="Image 0" descr="/home/user/most/presentations/aurora-hotel/assets/logo_m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9864" y="3063240"/>
            <a:ext cx="649224" cy="72237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78408" y="3520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architects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kazakhstan/almaty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7555687" y="35204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гостиничный комплекс с бизнес-центром</a:t>
            </a:r>
            <a:endParaRPr lang="en-US" sz="85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г. алматы, ул. бухтарминская</a:t>
            </a:r>
            <a:endParaRPr lang="en-US" sz="85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август 2026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325216" y="5870448"/>
            <a:ext cx="120700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FF4D2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325216" y="587044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769968" y="5870448"/>
            <a:ext cx="120700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44444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769968" y="587044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masterplan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214720" y="5870448"/>
            <a:ext cx="120700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44444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4720" y="587044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659472" y="5870448"/>
            <a:ext cx="120700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44444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659472" y="587044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plan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19456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МЕСТО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219456" y="3749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Участок и окружение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571439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6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СИТУАЦИОННАЯ СХЕМА</a:t>
            </a:r>
            <a:endParaRPr lang="en-US" sz="950" dirty="0"/>
          </a:p>
        </p:txBody>
      </p:sp>
      <p:pic>
        <p:nvPicPr>
          <p:cNvPr id="5" name="Image 0" descr="/home/user/most/presentations/aurora-hotel/assets/contex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01563"/>
            <a:ext cx="6766560" cy="47828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6012469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Оранжевым — проектируемый участок в структуре городской застройки.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7635240" y="987552"/>
            <a:ext cx="398952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Свободный участок 1,4 га на ул. Бухтарминской. Деловое и производственное окружение, жилая застройка не примыкает.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635240" y="2377440"/>
            <a:ext cx="3989527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635240" y="2578608"/>
            <a:ext cx="3989527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6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Снос и расселение не требуются.</a:t>
            </a:r>
            <a:endParaRPr lang="en-US" sz="1100" dirty="0"/>
          </a:p>
          <a:p>
            <a:pPr indent="0" marL="0">
              <a:lnSpc>
                <a:spcPts val="16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6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Участок обслуживается существующими проездами по всему периметру.</a:t>
            </a:r>
            <a:endParaRPr lang="en-US" sz="1100" dirty="0"/>
          </a:p>
          <a:p>
            <a:pPr indent="0" marL="0">
              <a:lnSpc>
                <a:spcPts val="16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6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 северу — действующая АЗС, зона 50 м на генплане.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635240" y="4709160"/>
            <a:ext cx="3989527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635240" y="4892040"/>
            <a:ext cx="398952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</a:t>
            </a:r>
            <a:pPr indent="0" marL="0">
              <a:buNone/>
            </a:pPr>
            <a:r>
              <a:rPr lang="en-US" sz="1100" b="1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га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7635240" y="5312664"/>
            <a:ext cx="39895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3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СВОБОДНАЯ ТЕРРИТОРИЯ В СТРУКТУРЕ ГОРОДА</a:t>
            </a:r>
            <a:endParaRPr lang="en-US" sz="800" dirty="0"/>
          </a:p>
        </p:txBody>
      </p:sp>
      <p:pic>
        <p:nvPicPr>
          <p:cNvPr id="13" name="Image 1" descr="/home/user/most/presentations/aurora-hotel/assets/logo_mo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5925312"/>
            <a:ext cx="630936" cy="70408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19456" y="6455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19456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ГЕНЕРАЛЬНЫЙ ПЛАН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219456" y="3749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Посадка на участок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571439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6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ГЕНПЛАН</a:t>
            </a:r>
            <a:endParaRPr lang="en-US" sz="950" dirty="0"/>
          </a:p>
        </p:txBody>
      </p:sp>
      <p:pic>
        <p:nvPicPr>
          <p:cNvPr id="5" name="Image 0" descr="/home/user/most/presentations/aurora-hotel/assets/genpla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108" y="932688"/>
            <a:ext cx="5896704" cy="54406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178040" y="1024128"/>
            <a:ext cx="4446727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6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Гостиничный корпус вытянут вдоль участка и раскрыт во внутренний двор; бизнес-центр замыкает композицию с юго-востока.</a:t>
            </a:r>
            <a:endParaRPr lang="en-US" sz="1100" dirty="0"/>
          </a:p>
          <a:p>
            <a:pPr indent="0" marL="0">
              <a:lnSpc>
                <a:spcPts val="16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6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Кольцевой проезд замкнут вокруг застройки: подъезд ко всем входам и разворот пожарной техники.</a:t>
            </a:r>
            <a:endParaRPr lang="en-US" sz="1100" dirty="0"/>
          </a:p>
          <a:p>
            <a:pPr indent="0" marL="0">
              <a:lnSpc>
                <a:spcPts val="16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6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Наземные стоянки вынесены на периметр и во внутренний двор, вне пятна застройки.</a:t>
            </a:r>
            <a:endParaRPr lang="en-US" sz="1100" dirty="0"/>
          </a:p>
          <a:p>
            <a:pPr indent="0" marL="0">
              <a:lnSpc>
                <a:spcPts val="16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6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Рядовая посадка деревьев по всему периметру формирует буфер между застройкой и границами.</a:t>
            </a:r>
            <a:endParaRPr lang="en-US" sz="1100" dirty="0"/>
          </a:p>
        </p:txBody>
      </p:sp>
      <p:pic>
        <p:nvPicPr>
          <p:cNvPr id="7" name="Image 1" descr="/home/user/most/presentations/aurora-hotel/assets/logo_mo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5925312"/>
            <a:ext cx="630936" cy="70408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9456" y="6455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19456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219456" y="3749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 выведена из силуэта Заилийского Алатау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571439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6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КОНЦЕПЦИЯ</a:t>
            </a:r>
            <a:endParaRPr lang="en-US" sz="950" dirty="0"/>
          </a:p>
        </p:txBody>
      </p:sp>
      <p:pic>
        <p:nvPicPr>
          <p:cNvPr id="5" name="Image 0" descr="/home/user/most/presentations/aurora-hotel/assets/genesi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5386" y="841248"/>
            <a:ext cx="8298180" cy="5532120"/>
          </a:xfrm>
          <a:prstGeom prst="rect">
            <a:avLst/>
          </a:prstGeom>
        </p:spPr>
      </p:pic>
      <p:pic>
        <p:nvPicPr>
          <p:cNvPr id="6" name="Image 1" descr="/home/user/most/presentations/aurora-hotel/assets/logo_mo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5925312"/>
            <a:ext cx="630936" cy="70408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19456" y="6455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ost/presentations/aurora-hotel/assets/facad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737"/>
            <a:ext cx="12191695" cy="686147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9456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ФАСАД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5571439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6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ВИЗУАЛИЗАЦИЯ</a:t>
            </a:r>
            <a:endParaRPr lang="en-US" sz="950" dirty="0"/>
          </a:p>
        </p:txBody>
      </p:sp>
      <p:pic>
        <p:nvPicPr>
          <p:cNvPr id="5" name="Image 1" descr="/home/user/most/presentations/aurora-hotel/assets/logo_mo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5925312"/>
            <a:ext cx="630936" cy="70408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19456" y="6455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ost/presentations/aurora-hotel/assets/lobb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34898"/>
            <a:ext cx="12191695" cy="812779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9456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ЛОББИ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5571439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ВИЗУАЛИЗАЦИЯ</a:t>
            </a:r>
            <a:endParaRPr lang="en-US" sz="950" dirty="0"/>
          </a:p>
        </p:txBody>
      </p:sp>
      <p:pic>
        <p:nvPicPr>
          <p:cNvPr id="5" name="Image 1" descr="/home/user/most/presentations/aurora-hotel/assets/logo_mo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5925312"/>
            <a:ext cx="630936" cy="70408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19456" y="6455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ost/presentations/aurora-hotel/assets/lobby_gran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34898"/>
            <a:ext cx="12191695" cy="812779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9456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ЛОББИ-ЛАУНЖ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5571439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6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ВИЗУАЛИЗАЦИЯ</a:t>
            </a:r>
            <a:endParaRPr lang="en-US" sz="950" dirty="0"/>
          </a:p>
        </p:txBody>
      </p:sp>
      <p:pic>
        <p:nvPicPr>
          <p:cNvPr id="5" name="Image 1" descr="/home/user/most/presentations/aurora-hotel/assets/logo_mo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5925312"/>
            <a:ext cx="630936" cy="70408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19456" y="6455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ost/presentations/aurora-hotel/assets/restauran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34898"/>
            <a:ext cx="12191695" cy="812779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9456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РЕСТОРАН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5571439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6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ВИЗУАЛИЗАЦИЯ</a:t>
            </a:r>
            <a:endParaRPr lang="en-US" sz="950" dirty="0"/>
          </a:p>
        </p:txBody>
      </p:sp>
      <p:pic>
        <p:nvPicPr>
          <p:cNvPr id="5" name="Image 1" descr="/home/user/most/presentations/aurora-hotel/assets/logo_mo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5925312"/>
            <a:ext cx="630936" cy="70408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19456" y="6455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ost/presentations/aurora-hotel/assets/conferen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28288"/>
            <a:ext cx="12191695" cy="811457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9456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КОНФЕРЕНЦ-ЗАЛ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5571439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ВИЗУАЛИЗАЦИЯ</a:t>
            </a:r>
            <a:endParaRPr lang="en-US" sz="950" dirty="0"/>
          </a:p>
        </p:txBody>
      </p:sp>
      <p:pic>
        <p:nvPicPr>
          <p:cNvPr id="5" name="Image 1" descr="/home/user/most/presentations/aurora-hotel/assets/logo_mo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5925312"/>
            <a:ext cx="630936" cy="70408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19456" y="6455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ost/presentations/aurora-hotel/assets/boardroo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34898"/>
            <a:ext cx="12191695" cy="812779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9456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ПЕРЕГОВОРНАЯ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5571439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6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ВИЗУАЛИЗАЦИЯ</a:t>
            </a:r>
            <a:endParaRPr lang="en-US" sz="950" dirty="0"/>
          </a:p>
        </p:txBody>
      </p:sp>
      <p:pic>
        <p:nvPicPr>
          <p:cNvPr id="5" name="Image 1" descr="/home/user/most/presentations/aurora-hotel/assets/logo_mo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5925312"/>
            <a:ext cx="630936" cy="70408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19456" y="6455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ost/presentations/aurora-hotel/assets/cowork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34898"/>
            <a:ext cx="12191695" cy="812779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9456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КОВОРКИНГ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5571439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ВИЗУАЛИЗАЦИЯ</a:t>
            </a:r>
            <a:endParaRPr lang="en-US" sz="950" dirty="0"/>
          </a:p>
        </p:txBody>
      </p:sp>
      <p:pic>
        <p:nvPicPr>
          <p:cNvPr id="5" name="Image 1" descr="/home/user/most/presentations/aurora-hotel/assets/logo_mo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5925312"/>
            <a:ext cx="630936" cy="70408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19456" y="6455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ost/presentations/aurora-hotel/assets/gy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34898"/>
            <a:ext cx="12191695" cy="812779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9456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ФИТНЕС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5571439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ВИЗУАЛИЗАЦИЯ</a:t>
            </a:r>
            <a:endParaRPr lang="en-US" sz="950" dirty="0"/>
          </a:p>
        </p:txBody>
      </p:sp>
      <p:pic>
        <p:nvPicPr>
          <p:cNvPr id="5" name="Image 1" descr="/home/user/most/presentations/aurora-hotel/assets/logo_mo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5925312"/>
            <a:ext cx="630936" cy="70408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19456" y="6455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ost/presentations/aurora-hotel/assets/roo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36348"/>
            <a:ext cx="12191695" cy="813069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9456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НОМЕР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5571439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6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ВИЗУАЛИЗАЦИЯ</a:t>
            </a:r>
            <a:endParaRPr lang="en-US" sz="950" dirty="0"/>
          </a:p>
        </p:txBody>
      </p:sp>
      <p:pic>
        <p:nvPicPr>
          <p:cNvPr id="5" name="Image 1" descr="/home/user/most/presentations/aurora-hotel/assets/logo_mo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5925312"/>
            <a:ext cx="630936" cy="70408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19456" y="6455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ost/presentations/aurora-hotel/assets/terra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34898"/>
            <a:ext cx="12191695" cy="812779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9456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ОБЩЕСТВЕННАЯ ТЕРРАСА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5571439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ВИЗУАЛИЗАЦИЯ</a:t>
            </a:r>
            <a:endParaRPr lang="en-US" sz="950" dirty="0"/>
          </a:p>
        </p:txBody>
      </p:sp>
      <p:pic>
        <p:nvPicPr>
          <p:cNvPr id="5" name="Image 1" descr="/home/user/most/presentations/aurora-hotel/assets/logo_mo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5925312"/>
            <a:ext cx="630936" cy="70408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19456" y="6455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ost/presentations/aurora-hotel/assets/b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9314" y="0"/>
            <a:ext cx="12290323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9456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БИЗНЕС-ЦЕНТР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5571439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6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ВИЗУАЛИЗАЦИЯ</a:t>
            </a:r>
            <a:endParaRPr lang="en-US" sz="950" dirty="0"/>
          </a:p>
        </p:txBody>
      </p:sp>
      <p:pic>
        <p:nvPicPr>
          <p:cNvPr id="5" name="Image 1" descr="/home/user/most/presentations/aurora-hotel/assets/logo_mo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5925312"/>
            <a:ext cx="630936" cy="70408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19456" y="6455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ost/presentations/aurora-hotel/assets/bc_lobb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449417"/>
            <a:ext cx="12191695" cy="975683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9456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ЛОББИ БИЗНЕС-ЦЕНТРА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5571439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6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ВИЗУАЛИЗАЦИЯ</a:t>
            </a:r>
            <a:endParaRPr lang="en-US" sz="950" dirty="0"/>
          </a:p>
        </p:txBody>
      </p:sp>
      <p:pic>
        <p:nvPicPr>
          <p:cNvPr id="5" name="Image 1" descr="/home/user/most/presentations/aurora-hotel/assets/logo_mo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5925312"/>
            <a:ext cx="630936" cy="70408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19456" y="6455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ost/presentations/aurora-hotel/assets/bc_offi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449417"/>
            <a:ext cx="12191695" cy="975683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9456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ОФИСНЫЙ ЭТАЖ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5571439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6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ВИЗУАЛИЗАЦИЯ</a:t>
            </a:r>
            <a:endParaRPr lang="en-US" sz="950" dirty="0"/>
          </a:p>
        </p:txBody>
      </p:sp>
      <p:pic>
        <p:nvPicPr>
          <p:cNvPr id="5" name="Image 1" descr="/home/user/most/presentations/aurora-hotel/assets/logo_mo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5925312"/>
            <a:ext cx="630936" cy="70408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19456" y="6455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ost/presentations/aurora-hotel/assets/nig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737"/>
            <a:ext cx="12191695" cy="686147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9456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ВЕЧЕРНИЙ ВИД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5571439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6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ВИЗУАЛИЗАЦИЯ</a:t>
            </a:r>
            <a:endParaRPr lang="en-US" sz="950" dirty="0"/>
          </a:p>
        </p:txBody>
      </p:sp>
      <p:pic>
        <p:nvPicPr>
          <p:cNvPr id="5" name="Image 1" descr="/home/user/most/presentations/aurora-hotel/assets/logo_mo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5925312"/>
            <a:ext cx="630936" cy="70408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19456" y="6455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19456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ЗОНИРОВАНИЕ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219456" y="3749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Распределение функций по этажам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571439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6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СХЕМА</a:t>
            </a:r>
            <a:endParaRPr lang="en-US" sz="950" dirty="0"/>
          </a:p>
        </p:txBody>
      </p:sp>
      <p:pic>
        <p:nvPicPr>
          <p:cNvPr id="5" name="Image 0" descr="/home/user/most/presentations/aurora-hotel/assets/zon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5386" y="841248"/>
            <a:ext cx="8298180" cy="5532120"/>
          </a:xfrm>
          <a:prstGeom prst="rect">
            <a:avLst/>
          </a:prstGeom>
        </p:spPr>
      </p:pic>
      <p:pic>
        <p:nvPicPr>
          <p:cNvPr id="6" name="Image 1" descr="/home/user/most/presentations/aurora-hotel/assets/logo_mo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5925312"/>
            <a:ext cx="630936" cy="70408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19456" y="6455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C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ost/presentations/aurora-hotel/assets/material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348" y="0"/>
            <a:ext cx="10287000" cy="6858000"/>
          </a:xfrm>
          <a:prstGeom prst="rect">
            <a:avLst/>
          </a:prstGeom>
        </p:spPr>
      </p:pic>
      <p:pic>
        <p:nvPicPr>
          <p:cNvPr id="3" name="Image 1" descr="/home/user/most/presentations/aurora-hotel/assets/logo_mo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5925312"/>
            <a:ext cx="630936" cy="70408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19456" y="6455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19456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ПОКАЗАТЕЛИ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219456" y="3749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параметры проекта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571439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6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ТЭП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325880"/>
            <a:ext cx="252145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</a:t>
            </a:r>
            <a:pPr indent="0" marL="0">
              <a:buNone/>
            </a:pPr>
            <a:r>
              <a:rPr lang="en-US" sz="1100" b="1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га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746504"/>
            <a:ext cx="2521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3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ПЛОЩАДЬ УЧАСТКА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3298698" y="1325880"/>
            <a:ext cx="252145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pPr indent="0" marL="0">
              <a:buNone/>
            </a:pPr>
            <a:r>
              <a:rPr lang="en-US" sz="1100" b="1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этажей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298698" y="1746504"/>
            <a:ext cx="2521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3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ЭТАЖНОСТЬ КОМПЛЕКСА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6094476" y="1325880"/>
            <a:ext cx="252145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pPr indent="0" marL="0">
              <a:buNone/>
            </a:pP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6094476" y="1746504"/>
            <a:ext cx="2521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3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НОМЕРА КАТЕГОРИИ 4 ЗВЕЗДЫ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8890254" y="1325880"/>
            <a:ext cx="252145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22 415</a:t>
            </a:r>
            <a:pPr indent="0" marL="0">
              <a:buNone/>
            </a:pPr>
            <a:r>
              <a:rPr lang="en-US" sz="1100" b="1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м²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890254" y="1746504"/>
            <a:ext cx="2521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3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ОБЩАЯ НАДЗЕМНАЯ ПЛОЩАДЬ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02920" y="2670048"/>
            <a:ext cx="11183112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272491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Площадь застройки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897880" y="27249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4 981,16 м²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458200" y="2724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35,6 % участка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026664"/>
            <a:ext cx="11183112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" y="314096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Площадь 1-го этажа — общественные функции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897880" y="31409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4 483,04 м²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31409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20,0 % надземной площади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3442716"/>
            <a:ext cx="11183112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2920" y="355701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Конференц-блок, нетто (этаж 2)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897880" y="35570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1 916,32 м²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458200" y="35570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зал на 600–700 мест с фойе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3858768"/>
            <a:ext cx="11183112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02920" y="39730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Номерной фонд, нетто (этажи 3–5)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897880" y="39730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4 616,00 м²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458200" y="39730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номеров, средний модуль 30,8 м²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4274820"/>
            <a:ext cx="11183112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02920" y="43891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Бизнес-центр, нетто (этажи 2–5)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897880" y="4389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6 028,08 м²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458200" y="4389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26,9 % надземной площади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" y="4690872"/>
            <a:ext cx="11183112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02920" y="480517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Коридоры, узлы и техпомещения (расчётно)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5897880" y="48051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5 371,76 м²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8458200" y="48051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коэффициент этажа 0,70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2920" y="5106924"/>
            <a:ext cx="11183112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02920" y="522122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Надземная часть, всего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5897880" y="52212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22 415,20 м²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8458200" y="52212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коэф. использования территории 1,60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2920" y="5522976"/>
            <a:ext cx="11183112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02920" y="563727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Машино-места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5897880" y="56372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 м/м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8458200" y="56372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чертежу генплана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02920" y="5939028"/>
            <a:ext cx="11183112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02920" y="6035040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Строка с пометкой «расчётно» получена расчётом бюро: в ТЭП генплана указана только полезная площадь.</a:t>
            </a:r>
            <a:endParaRPr lang="en-US" sz="800" dirty="0"/>
          </a:p>
        </p:txBody>
      </p:sp>
      <p:pic>
        <p:nvPicPr>
          <p:cNvPr id="47" name="Image 0" descr="/home/user/most/presentations/aurora-hotel/assets/logo_m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6848" y="5925312"/>
            <a:ext cx="630936" cy="704088"/>
          </a:xfrm>
          <a:prstGeom prst="rect">
            <a:avLst/>
          </a:prstGeom>
        </p:spPr>
      </p:pic>
      <p:sp>
        <p:nvSpPr>
          <p:cNvPr id="48" name="Text 45"/>
          <p:cNvSpPr txBox="1"/>
          <p:nvPr/>
        </p:nvSpPr>
        <p:spPr>
          <a:xfrm>
            <a:off x="219456" y="6455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19456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ЁМКОСТЬ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219456" y="3749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Обоснование номерного фонда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571439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6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РЫНКА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07008"/>
            <a:ext cx="252145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pPr indent="0" marL="0">
              <a:buNone/>
            </a:pP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27632"/>
            <a:ext cx="25214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3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НОМЕРОВ В ПРОЕКТЕ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3298698" y="1207008"/>
            <a:ext cx="252145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 – 230</a:t>
            </a:r>
            <a:pPr indent="0" marL="0">
              <a:buNone/>
            </a:pPr>
            <a:endParaRPr lang="en-US" sz="2900" dirty="0"/>
          </a:p>
        </p:txBody>
      </p:sp>
      <p:sp>
        <p:nvSpPr>
          <p:cNvPr id="8" name="Text 6"/>
          <p:cNvSpPr txBox="1"/>
          <p:nvPr/>
        </p:nvSpPr>
        <p:spPr>
          <a:xfrm>
            <a:off x="3298698" y="1627632"/>
            <a:ext cx="25214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3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СЛОЖИВШАЯСЯ ЁМКОСТЬ БРЕНДОВОГО ОТЕЛЯ 4 ЗВЕЗДЫ В АЛМАТЫ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6094476" y="1207008"/>
            <a:ext cx="252145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– 300</a:t>
            </a:r>
            <a:pPr indent="0" marL="0">
              <a:buNone/>
            </a:pPr>
            <a:endParaRPr lang="en-US" sz="2900" dirty="0"/>
          </a:p>
        </p:txBody>
      </p:sp>
      <p:sp>
        <p:nvSpPr>
          <p:cNvPr id="10" name="Text 8"/>
          <p:cNvSpPr txBox="1"/>
          <p:nvPr/>
        </p:nvSpPr>
        <p:spPr>
          <a:xfrm>
            <a:off x="6094476" y="1627632"/>
            <a:ext cx="25214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3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НОМЕРОВ В ГОД — СКОРОСТЬ ПОГЛОЩЕНИЯ РЫНКОМ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8890254" y="1207008"/>
            <a:ext cx="252145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+ 79</a:t>
            </a:r>
            <a:pPr indent="0" marL="0">
              <a:buNone/>
            </a:pPr>
            <a:r>
              <a:rPr lang="en-US" sz="1100" b="1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%</a:t>
            </a:r>
            <a:endParaRPr lang="en-US" sz="2900" dirty="0"/>
          </a:p>
        </p:txBody>
      </p:sp>
      <p:sp>
        <p:nvSpPr>
          <p:cNvPr id="12" name="Text 10"/>
          <p:cNvSpPr txBox="1"/>
          <p:nvPr/>
        </p:nvSpPr>
        <p:spPr>
          <a:xfrm>
            <a:off x="8890254" y="1627632"/>
            <a:ext cx="25214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3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 ТУРИСТИЧЕСКОГО ПОТОКА АЛМАТЫ ЗА 2016–2024 ГОДЫ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02920" y="2834640"/>
            <a:ext cx="11183112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306324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СОПОСТАВИМЫЕ ОТЕЛИ АЛМАТЫ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410712"/>
            <a:ext cx="5157216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3611880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Novotel Almaty City Center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465576" y="36118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звезды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745736" y="36118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3922776"/>
            <a:ext cx="5157216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4050792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Holiday Inn Almaty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3465576" y="40507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звезды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745736" y="40507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229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" y="4361688"/>
            <a:ext cx="5157216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2920" y="448970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Rixos Almaty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3465576" y="44897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звёзд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745736" y="44897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237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02920" y="4800600"/>
            <a:ext cx="5157216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02920" y="5056632"/>
            <a:ext cx="5157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заходит ниже сложившейся ёмкости рынка: 150 номеров это 1,23 % номерного фонда Алматы и менее года ёмкости поглощения. Запас взят сознательно.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528816" y="306324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ГОВОРИТ РЫНОК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528816" y="3410712"/>
            <a:ext cx="5157216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28816" y="3611880"/>
            <a:ext cx="515721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6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Туристический поток Алматы вырос с 1,72 до 3,08 млн человек за 2016–2024 годы — в среднем 7,5 % в год.</a:t>
            </a:r>
            <a:endParaRPr lang="en-US" sz="1100" dirty="0"/>
          </a:p>
          <a:p>
            <a:pPr indent="0" marL="0">
              <a:lnSpc>
                <a:spcPts val="16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6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Загрузка гостиниц поднялась с 54,9 % до 69,5 % — рекорд рынка. Признаков системного перегрева нет.</a:t>
            </a:r>
            <a:endParaRPr lang="en-US" sz="1100" dirty="0"/>
          </a:p>
          <a:p>
            <a:pPr indent="0" marL="0">
              <a:lnSpc>
                <a:spcPts val="16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6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Рынок вышел из восстановительной фазы и перешёл в стадию органического роста спроса.</a:t>
            </a:r>
            <a:endParaRPr lang="en-US" sz="1100" dirty="0"/>
          </a:p>
        </p:txBody>
      </p:sp>
      <p:pic>
        <p:nvPicPr>
          <p:cNvPr id="32" name="Image 0" descr="/home/user/most/presentations/aurora-hotel/assets/logo_m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6848" y="5925312"/>
            <a:ext cx="630936" cy="704088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219456" y="6455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19456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УСТОЙЧИВОСТЬ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219456" y="3749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источника выручки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571439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6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ЭКОНОМИКА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430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Комплекс не зависит от одной суточной загрузки: две трети полезной площади работают по договорам аренды и заявкам на мероприятия.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286000"/>
            <a:ext cx="45720" cy="658368"/>
          </a:xfrm>
          <a:prstGeom prst="rect">
            <a:avLst/>
          </a:prstGeom>
          <a:solidFill>
            <a:srgbClr val="FF4D23"/>
          </a:solidFill>
          <a:ln w="12700">
            <a:solidFill>
              <a:srgbClr val="FF4D2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286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Бизнес-центр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6032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Договоры аренды, годовой горизонт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080760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6 028,08 м²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080760" y="2560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35,4 % полезной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8366760" y="2286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предсказуемость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25420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ВЫСОКАЯ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035808"/>
            <a:ext cx="11183112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3218688"/>
            <a:ext cx="45720" cy="658368"/>
          </a:xfrm>
          <a:prstGeom prst="rect">
            <a:avLst/>
          </a:prstGeom>
          <a:solidFill>
            <a:srgbClr val="FF4D23"/>
          </a:solidFill>
          <a:ln w="12700">
            <a:solidFill>
              <a:srgbClr val="FF4D2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2186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Конференц-блок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349300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Событийная сдача, собственные и сторонние мероприятия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080760" y="32186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1 916,32 м²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080760" y="34930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11,2 % полезной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32186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предсказуемость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3474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СРЕДНЯЯ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968496"/>
            <a:ext cx="11183112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4151376"/>
            <a:ext cx="45720" cy="658368"/>
          </a:xfrm>
          <a:prstGeom prst="rect">
            <a:avLst/>
          </a:prstGeom>
          <a:solidFill>
            <a:srgbClr val="FF4D23"/>
          </a:solidFill>
          <a:ln w="12700">
            <a:solidFill>
              <a:srgbClr val="FF4D2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41513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Номерной фонд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442569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Суточная загрузка, сезонная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080760" y="4151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4 616,00 м²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080760" y="44256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27,1 % полезной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366760" y="41513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предсказуемость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8366760" y="44074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НИЗКАЯ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2920" y="4901184"/>
            <a:ext cx="11183112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5084064"/>
            <a:ext cx="45720" cy="658368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7240" y="50840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этаж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77240" y="535838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Обслуживает все три функции и работает на город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080760" y="5084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4 483,04 м²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080760" y="53583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26,3 % полезной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8366760" y="5084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предсказуемость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8366760" y="53400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02920" y="5833872"/>
            <a:ext cx="11183112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02920" y="6126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47 %</a:t>
            </a:r>
            <a:endParaRPr lang="en-US" sz="2200" dirty="0"/>
          </a:p>
        </p:txBody>
      </p:sp>
      <p:sp>
        <p:nvSpPr>
          <p:cNvPr id="39" name="Text 37"/>
          <p:cNvSpPr txBox="1"/>
          <p:nvPr/>
        </p:nvSpPr>
        <p:spPr>
          <a:xfrm>
            <a:off x="1645920" y="61264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полезной площади работает по договорам аренды и заявкам на мероприятия. От суточной загрузки зависит 27 %.</a:t>
            </a:r>
            <a:endParaRPr lang="en-US" sz="1100" dirty="0"/>
          </a:p>
        </p:txBody>
      </p:sp>
      <p:pic>
        <p:nvPicPr>
          <p:cNvPr id="40" name="Image 0" descr="/home/user/most/presentations/aurora-hotel/assets/logo_m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6848" y="5925312"/>
            <a:ext cx="630936" cy="704088"/>
          </a:xfrm>
          <a:prstGeom prst="rect">
            <a:avLst/>
          </a:prstGeom>
        </p:spPr>
      </p:pic>
      <p:sp>
        <p:nvSpPr>
          <p:cNvPr id="41" name="Text 38"/>
          <p:cNvSpPr txBox="1"/>
          <p:nvPr/>
        </p:nvSpPr>
        <p:spPr>
          <a:xfrm>
            <a:off x="219456" y="6455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19456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ПРИЛОЖЕНИЕ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219456" y="3749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Соответствие нормам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571439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6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НОРМЫ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ПОДТВЕРЖДЕНО ГЕНПЛАНОМ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536192"/>
            <a:ext cx="5157216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755648"/>
            <a:ext cx="515721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4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Этажность 5 этажей по гостиничному корпусу и бизнес-центру, без превышения отметок соседней застройки.</a:t>
            </a:r>
            <a:endParaRPr lang="en-US" sz="1050" dirty="0"/>
          </a:p>
          <a:p>
            <a:pPr indent="0" marL="0">
              <a:lnSpc>
                <a:spcPts val="14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4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Замкнутый кольцевой пожарный проезд вокруг пятна застройки.</a:t>
            </a:r>
            <a:endParaRPr lang="en-US" sz="1050" dirty="0"/>
          </a:p>
          <a:p>
            <a:pPr indent="0" marL="0">
              <a:lnSpc>
                <a:spcPts val="14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4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Плотность застройки 35,6 %, коэффициент использования территории 1,60.</a:t>
            </a:r>
            <a:endParaRPr lang="en-US" sz="1050" dirty="0"/>
          </a:p>
          <a:p>
            <a:pPr indent="0" marL="0">
              <a:lnSpc>
                <a:spcPts val="14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4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Рядовая посадка деревьев по всему периметру участка.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528816" y="118872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УТОЧНЯЕТСЯ НА СТАДИИ ЭП И ПСД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28816" y="1536192"/>
            <a:ext cx="5157216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28816" y="1755648"/>
            <a:ext cx="515721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4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Отступы от границ участка уточняются по чертежу генерального плана.</a:t>
            </a:r>
            <a:endParaRPr lang="en-US" sz="1050" dirty="0"/>
          </a:p>
          <a:p>
            <a:pPr indent="0" marL="0">
              <a:lnSpc>
                <a:spcPts val="14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4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Санитарно-защитная зона действующей АЗС: подтвердить тип станции и установленный размер СЗЗ. На генплане прочерчена зона 50 м.</a:t>
            </a:r>
            <a:endParaRPr lang="en-US" sz="1050" dirty="0"/>
          </a:p>
          <a:p>
            <a:pPr indent="0" marL="0">
              <a:lnSpc>
                <a:spcPts val="14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4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Расчёт машино-мест по нормативу раздельно для гостиницы и бизнес-центра; на генплане предусмотрено 102 наземных места.</a:t>
            </a:r>
            <a:endParaRPr lang="en-US" sz="1050" dirty="0"/>
          </a:p>
          <a:p>
            <a:pPr indent="0" marL="0">
              <a:lnSpc>
                <a:spcPts val="14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4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Состав технических и хозяйственных помещений первого этажа уточняется на стадии эскизного проекта.</a:t>
            </a:r>
            <a:endParaRPr lang="en-US" sz="1050" dirty="0"/>
          </a:p>
          <a:p>
            <a:pPr indent="0" marL="0">
              <a:lnSpc>
                <a:spcPts val="14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4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Баланс территории раздельно: озеленение, покрытия, проезды, площадки.</a:t>
            </a:r>
            <a:endParaRPr lang="en-US" sz="1050" dirty="0"/>
          </a:p>
          <a:p>
            <a:pPr indent="0" marL="0">
              <a:lnSpc>
                <a:spcPts val="14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4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Технические условия на воду, канализацию, тепло и электроснабжение; расчёты инсоляции и шума.</a:t>
            </a:r>
            <a:endParaRPr lang="en-US" sz="1050" dirty="0"/>
          </a:p>
        </p:txBody>
      </p:sp>
      <p:pic>
        <p:nvPicPr>
          <p:cNvPr id="11" name="Image 0" descr="/home/user/most/presentations/aurora-hotel/assets/logo_m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6848" y="5925312"/>
            <a:ext cx="630936" cy="70408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219456" y="6455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" y="658368"/>
            <a:ext cx="1536192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4444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78408" y="658368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bureau</a:t>
            </a:r>
            <a:endParaRPr lang="en-US" sz="950" dirty="0"/>
          </a:p>
        </p:txBody>
      </p:sp>
      <p:pic>
        <p:nvPicPr>
          <p:cNvPr id="4" name="Image 0" descr="/home/user/most/presentations/aurora-hotel/assets/qr_m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1576" y="2962656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78408" y="3520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architects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kazakhstan/almaty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7555687" y="35204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most-a.com</a:t>
            </a:r>
            <a:endParaRPr lang="en-US" sz="85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e-mail: info@most-a.com</a:t>
            </a:r>
            <a:endParaRPr lang="en-US" sz="85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 (771) 733 77 00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92344" y="5870448"/>
            <a:ext cx="120700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FF4D2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92344" y="587044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MOST Architects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Гостиничный комплекс — г. Алматы, ул. Бухтарминская</dc:title>
  <dc:subject>PptxGenJS Presentation</dc:subject>
  <dc:creator>MOST Architects</dc:creator>
  <cp:lastModifiedBy>MOST Architects</cp:lastModifiedBy>
  <cp:revision>1</cp:revision>
  <dcterms:created xsi:type="dcterms:W3CDTF">2026-08-31T14:48:12Z</dcterms:created>
  <dcterms:modified xsi:type="dcterms:W3CDTF">2026-08-31T14:48:12Z</dcterms:modified>
</cp:coreProperties>
</file>