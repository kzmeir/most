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Титул. Стадия — concept. Объект: гостиничный комплекс с бизнес-центром, ул. Бухтарминская, участок 1,4 га.
Адресат на титуле не указан — дека универсальна.
Логика показа: два листа контекста — где участок и как село, — затем образ и весь визуальный ряд, и только после него схемы, материалы и цифры.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лист: коротко отвечаем «где», чтобы дальше этот вопрос не всплывал посреди визуального ряда.
Главная мысль: город ничего не теряет. Территория пустая, никого не сносим и не расселяем.
По снимку видно окружение: промышленный пояс и железнодорожная магистраль с северо-востока, зелёные склоны и частный сектор с запада. Жилая застройка к участку не примыкает.
Если спросят про шум от железной дороги — расчёт шума вынесен в приложение как задача стадии ЭП, самому эту тему не поднимать.
АЗС: подтвердить тип станции и установленный размер СЗЗ до градсовета.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Посадка показана объёмом, а не чертежом: два корпуса, кольцевой проезд, стоянки по периметру, рядовая посадка деревьев. Так читается за пять секунд, чертёж этого не даёт.
Отступы от границ на слайд намеренно не вынесены — цифры на чертеже уточняются. Если спросят конкретные значения, ссылаться на чертёж генплана, своих цифр не называть.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Переход от контекста к образу: дальше идут только кадры. Задаёт тон всему визуальному ряду.
Слайд намеренно без текста — картинка говорит сама, объяснение проговаривается устно.
Панорама хребта, которая открывается с участка, — исходная линия проекта: ломаная гряда в три шага сглаживается до горизонтальных лент перекрытий. Отсюда и отказ от высотности.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Главный фасад.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Лобби-лаунж.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Ресторан.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Конференц-зал.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Переговорная.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Коворкинг.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Фитнес.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Номер.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Общественная терраса.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Бизнес-центр — новая функция в составе комплекса, для акимата это постоянные рабочие места вне сезона.
Этажность на рендере и на генплане совпадает: пять этажей.
Голубым на генплане показана только выступающая часть бизнес-центра — 866 м² пятна. Остальные примерно 2 000 м² он занимает на верхних этажах гостиничного корпуса, поэтому 4 895,11 м² по ТЭП сходятся. Если спросят, где остальной объём, — ответ такой.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Лобби бизнес-центра.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Офисный этаж.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Вечерний вид. Один кадр — одна мысль, комментировать коротко.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Одна картинка вместо объяснений: первый этаж — общественная функция на город, выше — номера и офисы.
Зелёный: лобби, рестораны, конференц-залы, спа и фитнес, технические помещения — 4 483,04 м².
Жёлтый: номерной фонд, этажи 2–5 — 7 665,29 м², 280 номеров.
Бордовый: бизнес-центр, этажи 2–5 — 4 895,11 м².
Главный тезис для акимата: весь первый этаж работает на город, а не только на постояльцев.
На схеме бизнес-центр показан отдельным стаканом. Часть его площадей — около 2 000 м² — фактически лежит на верхних этажах гостиничного корпуса; на схеме это не выделено.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Уровень архитектуры одним листом. Не зачитывать состав — назвать две-три позиции.
Стоит рядом с зонированием: там разбор по функциям, здесь — по материалам.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Цифры идут после всего визуального ряда: сначала показали объект, теперь считаем.
Готовность к вопросу: 22 415,20 = 5 этажей × 4 483,04. В ТЭП генплана стоит полезная площадь 17 043,44 (4 483,04 + 7 665,29 + 4 895,11) — она не включает коридоры, узлы и техпомещения. Разница 5 371,76 м². Показывать надо общую: полезную площадь на градсовете не рассматривают.
280 номеров = 7 665,29 чистых при среднем модуле 27,4 м². Диапазон по заданию 250–300 выдержан.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Технический слайд, вынесен в приложение, чтобы не тормозить историю.
Показывать по запросу или оставить в раздатке.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Три запроса к акимату проговариваются здесь: одобрить архитектурно-градостроительную концепцию, выдать АПЗ для перехода к эскизному проекту, определить технические условия на подключение к сетям.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9864" y="3063240"/>
            <a:ext cx="649224" cy="72237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комплекс с бизнес-центром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г. алматы, ул. бухтарминская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август 2026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3325216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25216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69968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769968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masterplan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6214720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214720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659472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659472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detail plan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МЕСТО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и окружение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СИТУАЦИОННАЯ СХЕМА</a:t>
            </a:r>
            <a:endParaRPr lang="en-US" sz="950" dirty="0"/>
          </a:p>
        </p:txBody>
      </p:sp>
      <p:pic>
        <p:nvPicPr>
          <p:cNvPr id="5" name="Image 0" descr="/home/user/most/presentations/aurora-hotel/assets/contex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101563"/>
            <a:ext cx="6766560" cy="478289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6012469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Оранжевым — проектируемый участок в структуре городской застройки.</a:t>
            </a:r>
            <a:endParaRPr lang="en-US" sz="800" dirty="0"/>
          </a:p>
        </p:txBody>
      </p:sp>
      <p:sp>
        <p:nvSpPr>
          <p:cNvPr id="7" name="Text 4"/>
          <p:cNvSpPr txBox="1"/>
          <p:nvPr/>
        </p:nvSpPr>
        <p:spPr>
          <a:xfrm>
            <a:off x="7635240" y="987552"/>
            <a:ext cx="3989527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Свободный участок 1,4 га на ул. Бухтарминской. Деловое и производственное окружение, жилая застройка не примыкает.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7635240" y="237744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635240" y="2578608"/>
            <a:ext cx="3989527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Снос и расселение не требуются.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Участок обслуживается существующими проездами по всему периметру.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 северу — действующая АЗС, зона 50 м на генплане.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635240" y="4709160"/>
            <a:ext cx="3989527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635240" y="4892040"/>
            <a:ext cx="3989527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635240" y="5312664"/>
            <a:ext cx="398952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СВОБОДНАЯ ТЕРРИТОРИЯ В СТРУКТУРЕ ГОРОДА</a:t>
            </a:r>
            <a:endParaRPr lang="en-US" sz="800" dirty="0"/>
          </a:p>
        </p:txBody>
      </p:sp>
      <p:pic>
        <p:nvPicPr>
          <p:cNvPr id="1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ГЕНЕРАЛЬНЫЙ ПЛАН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Посадка на участок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ГЕНПЛАН</a:t>
            </a:r>
            <a:endParaRPr lang="en-US" sz="950" dirty="0"/>
          </a:p>
        </p:txBody>
      </p:sp>
      <p:pic>
        <p:nvPicPr>
          <p:cNvPr id="5" name="Image 0" descr="/home/user/most/presentations/aurora-hotel/assets/aeri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3755" y="932688"/>
            <a:ext cx="5873410" cy="5440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178040" y="1024128"/>
            <a:ext cx="4446727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Гостиничный корпус вытянут вдоль участка и раскрыт во внутренний двор; бизнес-центр замыкает композицию с юго-востока.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Кольцевой проезд замкнут вокруг застройки: подъезд ко всем входам и разворот пожарной техники.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Наземные стоянки вынесены на периметр и во внутренний двор, вне пятна застройки.</a:t>
            </a:r>
            <a:endParaRPr lang="en-US" sz="1100" dirty="0"/>
          </a:p>
          <a:p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600"/>
              </a:lnSpc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формирует буфер между застройкой и границами.</a:t>
            </a:r>
            <a:endParaRPr lang="en-US" sz="1100" dirty="0"/>
          </a:p>
        </p:txBody>
      </p:sp>
      <p:pic>
        <p:nvPicPr>
          <p:cNvPr id="7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ИДЕЯ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Форма выведена из силуэта Заилийского Алатау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КОНЦЕПЦИЯ</a:t>
            </a:r>
            <a:endParaRPr lang="en-US" sz="950" dirty="0"/>
          </a:p>
        </p:txBody>
      </p:sp>
      <p:pic>
        <p:nvPicPr>
          <p:cNvPr id="5" name="Image 0" descr="/home/user/most/presentations/aurora-hotel/assets/genesi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faca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ГЛАВНЫЙ ФАСАД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lobby_gran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ЛОББИ-ЛАУНЖ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estaura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РЕСТОРАН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nferen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КОНФЕРЕНЦ-ЗАЛ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oard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ПЕРЕГОВОРНАЯ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cowork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КОВОРКИНГ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gy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ФИТНЕС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roo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terra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ОБЩЕСТВЕННАЯ ТЕРРАСА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lobb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ЛОББИ БИЗНЕС-ЦЕНТРА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bc_offic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ОФИСНЫЙ ЭТАЖ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nigh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ВЕЧЕРНИЙ ВИД</a:t>
            </a:r>
            <a:endParaRPr lang="en-US" sz="950" dirty="0"/>
          </a:p>
        </p:txBody>
      </p:sp>
      <p:sp>
        <p:nvSpPr>
          <p:cNvPr id="4" name="Text 1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ВИЗУАЛИЗАЦИЯ</a:t>
            </a:r>
            <a:endParaRPr lang="en-US" sz="950" dirty="0"/>
          </a:p>
        </p:txBody>
      </p:sp>
      <p:pic>
        <p:nvPicPr>
          <p:cNvPr id="5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ЗОНИРОВАНИЕ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Распределение функций по этажам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СХЕМА</a:t>
            </a:r>
            <a:endParaRPr lang="en-US" sz="950" dirty="0"/>
          </a:p>
        </p:txBody>
      </p:sp>
      <p:pic>
        <p:nvPicPr>
          <p:cNvPr id="5" name="Image 0" descr="/home/user/most/presentations/aurora-hotel/assets/zon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45386" y="841248"/>
            <a:ext cx="8298180" cy="5532120"/>
          </a:xfrm>
          <a:prstGeom prst="rect">
            <a:avLst/>
          </a:prstGeom>
        </p:spPr>
      </p:pic>
      <p:pic>
        <p:nvPicPr>
          <p:cNvPr id="6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C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ost/presentations/aurora-hotel/assets/material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2348" y="0"/>
            <a:ext cx="10287000" cy="6858000"/>
          </a:xfrm>
          <a:prstGeom prst="rect">
            <a:avLst/>
          </a:prstGeom>
        </p:spPr>
      </p:pic>
      <p:pic>
        <p:nvPicPr>
          <p:cNvPr id="3" name="Image 1" descr="/home/user/most/presentations/aurora-hotel/assets/logo_mo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ПОКАЗАТЕЛИ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Ключевые параметры проекта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ТЭП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га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УЧАСТКА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3298698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этажей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298698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КОМПЛЕКСА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6094476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</a:t>
            </a:r>
            <a:pPr indent="0" marL="0">
              <a:buNone/>
            </a:pP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6094476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НОМЕРОВ КАТЕГОРИИ 4 ЗВЕЗДЫ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8890254" y="1325880"/>
            <a:ext cx="252145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</a:t>
            </a:r>
            <a:pPr indent="0" marL="0">
              <a:buNone/>
            </a:pPr>
            <a:r>
              <a:rPr lang="en-US" sz="1100" b="1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м²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8890254" y="1746504"/>
            <a:ext cx="25214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00" spc="30" kern="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ОБЩАЯ НАДЗЕМНАЯ ПЛОЩАДЬ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2743200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02920" y="292608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застройки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897880" y="2926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4 981,16 м²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8458200" y="29260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35,6 % участка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3236976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02920" y="33558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Площадь 1-го этажа — общественные функции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897880" y="335584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4 483,04 м²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458200" y="335584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20,0 % надземной площади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2920" y="366674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2920" y="3785616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Номерной фонд, нетто (этажи 2–5)</a:t>
            </a:r>
            <a:endParaRPr lang="en-US" sz="1150" dirty="0"/>
          </a:p>
        </p:txBody>
      </p:sp>
      <p:sp>
        <p:nvSpPr>
          <p:cNvPr id="23" name="Text 21"/>
          <p:cNvSpPr txBox="1"/>
          <p:nvPr/>
        </p:nvSpPr>
        <p:spPr>
          <a:xfrm>
            <a:off x="5897880" y="378561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7 665,29 м²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458200" y="3785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280 номеров, средний модуль 27,4 м²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2920" y="4096512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02920" y="4215384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Бизнес-центр, нетто (этажи 2–5)</a:t>
            </a:r>
            <a:endParaRPr lang="en-US" sz="1150" dirty="0"/>
          </a:p>
        </p:txBody>
      </p:sp>
      <p:sp>
        <p:nvSpPr>
          <p:cNvPr id="27" name="Text 25"/>
          <p:cNvSpPr txBox="1"/>
          <p:nvPr/>
        </p:nvSpPr>
        <p:spPr>
          <a:xfrm>
            <a:off x="5897880" y="421538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4 895,11 м²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8458200" y="421538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21,8 % надземной площади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2920" y="4526280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02920" y="4645152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Коридоры, узлы и техпомещения (расчётно)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5897880" y="46451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5 371,76 м²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458200" y="464515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коэффициент этажа 0,70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502920" y="4956048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502920" y="507492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Надземная часть, всего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5897880" y="50749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22 415,20 м²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84582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коэф. использования территории 1,60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385816"/>
            <a:ext cx="11183112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02920" y="55046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Машино-места</a:t>
            </a:r>
            <a:endParaRPr lang="en-US" sz="1150" dirty="0"/>
          </a:p>
        </p:txBody>
      </p:sp>
      <p:sp>
        <p:nvSpPr>
          <p:cNvPr id="39" name="Text 37"/>
          <p:cNvSpPr txBox="1"/>
          <p:nvPr/>
        </p:nvSpPr>
        <p:spPr>
          <a:xfrm>
            <a:off x="5897880" y="550468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102 м/м</a:t>
            </a:r>
            <a:endParaRPr lang="en-US" sz="1200" dirty="0"/>
          </a:p>
        </p:txBody>
      </p:sp>
      <p:sp>
        <p:nvSpPr>
          <p:cNvPr id="40" name="Text 38"/>
          <p:cNvSpPr txBox="1"/>
          <p:nvPr/>
        </p:nvSpPr>
        <p:spPr>
          <a:xfrm>
            <a:off x="8458200" y="5504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 чертежу генплана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815584"/>
            <a:ext cx="11183112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02920" y="6035040"/>
            <a:ext cx="1118311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Строка с пометкой «расчётно» получена расчётом бюро: в ТЭП генплана указана только полезная площадь.</a:t>
            </a:r>
            <a:endParaRPr lang="en-US" sz="800" dirty="0"/>
          </a:p>
        </p:txBody>
      </p:sp>
      <p:pic>
        <p:nvPicPr>
          <p:cNvPr id="43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44" name="Text 41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219456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60" kern="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ПРИЛОЖЕНИЕ</a:t>
            </a:r>
            <a:endParaRPr lang="en-US" sz="950" dirty="0"/>
          </a:p>
        </p:txBody>
      </p:sp>
      <p:sp>
        <p:nvSpPr>
          <p:cNvPr id="3" name="Text 1"/>
          <p:cNvSpPr txBox="1"/>
          <p:nvPr/>
        </p:nvSpPr>
        <p:spPr>
          <a:xfrm>
            <a:off x="219456" y="374904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Соответствие нормам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5571439" y="164592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spc="6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НОРМЫ</a:t>
            </a:r>
            <a:endParaRPr lang="en-US" sz="9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ПОДТВЕРЖДЕНО ГЕНПЛАНОМ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02920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Этажность 5 этажей по гостиничному корпусу и бизнес-центру, без превышения отметок соседней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Замкнутый кольцевой пожарный проезд вокруг пятна застройки.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Плотность застройки 35,6 %, коэффициент использования территории 1,60.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Рядовая посадка деревьев по всему периметру участка.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528816" y="1188720"/>
            <a:ext cx="51572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" kern="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УТОЧНЯЕТСЯ НА СТАДИИ ЭП И ПСД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528816" y="1536192"/>
            <a:ext cx="5157216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28816" y="1755648"/>
            <a:ext cx="5157216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Отступы от границ участка уточняются по чертежу генерального плана.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Санитарно-защитная зона действующей АЗС: подтвердить тип станции и установленный размер СЗЗ. На генплане прочерчена зона 50 м.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Расчёт машино-мест по нормативу раздельно для гостиницы и бизнес-центра; на генплане предусмотрено 102 наземных места.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Состав технических и хозяйственных помещений первого этажа уточняется на стадии эскизного проекта.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Баланс территории раздельно: озеленение, покрытия, проезды, площадки.</a:t>
            </a:r>
            <a:endParaRPr lang="en-US" sz="1050" dirty="0"/>
          </a:p>
          <a:p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</a:t>
            </a:r>
            <a:pPr indent="0" marL="0">
              <a:lnSpc>
                <a:spcPts val="1400"/>
              </a:lnSpc>
              <a:spcAft>
                <a:spcPts val="900"/>
              </a:spcAft>
              <a:buNone/>
            </a:pPr>
            <a:r>
              <a:rPr lang="en-US" sz="105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Технические условия на воду, канализацию, тепло и электроснабжение; расчёты инсоляции и шума.</a:t>
            </a:r>
            <a:endParaRPr lang="en-US" sz="1050" dirty="0"/>
          </a:p>
        </p:txBody>
      </p:sp>
      <p:pic>
        <p:nvPicPr>
          <p:cNvPr id="11" name="Image 0" descr="/home/user/most/presentations/aurora-hotel/assets/logo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56848" y="5925312"/>
            <a:ext cx="630936" cy="70408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219456" y="645566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8408" y="658368"/>
            <a:ext cx="1536192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444444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78408" y="658368"/>
            <a:ext cx="153619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architectural bureau</a:t>
            </a:r>
            <a:endParaRPr lang="en-US" sz="950" dirty="0"/>
          </a:p>
        </p:txBody>
      </p:sp>
      <p:pic>
        <p:nvPicPr>
          <p:cNvPr id="4" name="Image 0" descr="/home/user/most/presentations/aurora-hotel/assets/qr_mo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51576" y="2962656"/>
            <a:ext cx="685800" cy="6858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78408" y="35204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architects</a:t>
            </a:r>
            <a:endParaRPr lang="en-US" sz="850" dirty="0"/>
          </a:p>
          <a:p>
            <a:pPr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kazakhstan/almaty</a:t>
            </a:r>
            <a:endParaRPr lang="en-US" sz="850" dirty="0"/>
          </a:p>
        </p:txBody>
      </p:sp>
      <p:sp>
        <p:nvSpPr>
          <p:cNvPr id="6" name="Text 3"/>
          <p:cNvSpPr txBox="1"/>
          <p:nvPr/>
        </p:nvSpPr>
        <p:spPr>
          <a:xfrm>
            <a:off x="7555687" y="352044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e-mail: info@most-a.com</a:t>
            </a:r>
            <a:endParaRPr lang="en-US" sz="850" dirty="0"/>
          </a:p>
          <a:p>
            <a:pPr algn="r" indent="0" marL="0">
              <a:lnSpc>
                <a:spcPts val="1100"/>
              </a:lnSpc>
              <a:buNone/>
            </a:pPr>
            <a:r>
              <a:rPr lang="en-US" sz="8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+7 (771) 733 77 00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5492344" y="5870448"/>
            <a:ext cx="1207008" cy="310896"/>
          </a:xfrm>
          <a:prstGeom prst="roundRect">
            <a:avLst>
              <a:gd name="adj" fmla="val 17647"/>
            </a:avLst>
          </a:prstGeom>
          <a:solidFill>
            <a:srgbClr val="FFFFFF"/>
          </a:solidFill>
          <a:ln w="9525">
            <a:solidFill>
              <a:srgbClr val="FF4D23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92344" y="5870448"/>
            <a:ext cx="12070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FF4D2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concept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MOST Architects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Гостиничный комплекс — г. Алматы, ул. Бухтарминская</dc:title>
  <dc:subject>PptxGenJS Presentation</dc:subject>
  <dc:creator>MOST Architects</dc:creator>
  <cp:lastModifiedBy>MOST Architects</cp:lastModifiedBy>
  <cp:revision>1</cp:revision>
  <dcterms:created xsi:type="dcterms:W3CDTF">2026-08-31T10:52:05Z</dcterms:created>
  <dcterms:modified xsi:type="dcterms:W3CDTF">2026-08-31T10:52:05Z</dcterms:modified>
</cp:coreProperties>
</file>