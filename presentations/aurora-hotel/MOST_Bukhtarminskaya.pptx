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Стадия — concept. Объект: гостиничный комплекс с бизнес-центром, ул. Бухтарминская, участок 1,4 га.
Адресат на титуле не указан — дека универсальна.
Логика показа: два листа контекста — где участок и как село, — затем образ и весь визуальный ряд, и только после него схемы, материалы и цифры.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лист: коротко отвечаем «где», чтобы дальше этот вопрос не всплывал посреди визуального ряда.
Главная мысль: город ничего не теряет. Территория пустая, никого не сносим и не расселяем.
По снимку видно окружение: промышленный пояс и железнодорожная магистраль с северо-востока, зелёные склоны и частный сектор с запада. Жилая застройка к участку не примыкает.
Если спросят про шум от железной дороги — расчёт шума вынесен в приложение как задача стадии ЭП, самому эту тему не поднимать.
АЗС: подтвердить тип станции и установленный размер СЗЗ до градсовета.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Чертёж генплана: два корпуса, кольцевой проезд, стоянки по периметру, рядовая посадка деревьев.
Выносные размеры на чертеже словами не подтверждать — если спросят конкретные отступы, сказать, что уточняются, и не называть цифру.
Отступы от границ на слайд намеренно не вынесены — цифры на чертеже уточняются. Если спросят конкретные значения, ссылаться на чертёж генплана, своих цифр не называть.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 от контекста к образу: дальше идут только кадры. Задаёт тон всему визуальному ряду.
Слайд намеренно без текста — картинка говорит сама, объяснение проговаривается устно.
Панорама хребта, которая открывается с участка, — исходная линия проекта: ломаная гряда в три шага сглаживается до горизонтальных лент перекрытий. Отсюда и отказ от высотности.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фасад.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Лобби-лаунж.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Ресторан.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Конференц-зал.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Переговорная.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Коворкинг.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Фитнес.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Номер.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Общественная терраса.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Бизнес-центр — новая функция в составе комплекса, для акимата это постоянные рабочие места вне сезона.
Этажность на рендере и на генплане совпадает: пять этажей.
Голубым на генплане показана только выступающая часть бизнес-центра — 866 м² пятна. Остальные примерно 2 000 м² он занимает на верхних этажах гостиничного корпуса, поэтому 4 895,11 м² по ТЭП сходятся. Если спросят, где остальной объём, — ответ такой.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 бизнес-центра.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Офисный этаж.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Вечерний вид.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картинка вместо объяснений: первый этаж — общественная функция на город, выше — номера и офисы.
Зелёный: лобби, рестораны, конференц-залы, спа и фитнес, технические помещения — 4 483,04 м².
ВНИМАНИЕ: схема отрисована по прежней программе. По текущей второй этаж отеля занимает конференц-блок, номера остались на 3–5 этажах, бизнес-центр вырос. Схему надо перерисовать до показа, иначе она противоречит слайду показателей.
Жёлтый: номерной фонд — 4 616,00 м², 150 номеров на этажах 3–5.
Бордовый: бизнес-центр, этажи 2–5 — 4 895,11 м².
Главный тезис для акимата: весь первый этаж работает на город, а не только на постояльцев.
На схеме бизнес-центр показан отдельным стаканом. Часть его площадей — около 2 000 м² — фактически лежит на верхних этажах гостиничного корпуса; на схеме это не выделено.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Уровень архитектуры одним листом. Не зачитывать состав — назвать две-три позиции.
Стоит рядом с зонированием: там разбор по функциям, здесь — по материалам.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идут после всего визуального ряда: сначала показали объект, теперь считаем.
Готовность к вопросу: 22 415,20 = 5 этажей × 4 483,04. Полезная площадь 17 043,44 не включает коридоры, узлы и техпомещения — разница 5 371,76 м². Показывать надо общую.
150 номеров: 140 стандартных по 27,4 м² на этажах 3–4 и на пятом 8 люксов по 60 м² плюс два президентских по 150 м². Доля номеров повышенной категории 6,7 % — практика 4 звезды 6–12 %.
Ёмкость снижена сознательно, обоснование на следующем слайде — не оправдываться, а вести.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отвечает на вопрос, который задают первым: почему так мало номеров.
Ответ: ёмкость выбрана ниже рыночной нормы сознательно. Брендовый отель 4 звезды в Алматы — это 190–230 номеров, рынок поглощает 150–300 номеров в год. Проект берёт 150 — менее года ёмкости поглощения и 1,23 % фонда города.
Загрузка 69,5 % в 2024 — исторический пик, среднее за девять лет 54 %. На этом и строится осторожность: заходить в рынок на пике полным объёмом рискованно.
Если спросят про риск загрузки — переходить к следующему слайду, там ответ по структуре выручки.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Прямой ответ на страх незаполняемости. Сокращение номерного фонда не выбрасывает площадь — она уходит в бизнес-центр, а он сдаётся по договору, а не по суточной загрузке.
Конференц-блок тоже сдаётся сторонним заказчикам и при этом сам генерирует спрос на номера: делегаты закрывают будние ночи, которых у отеля вне центра города иначе нет.
Занятость: гостиница 90–105, конференц-центр 16–24, офисы 502–603 — всего 608–732 постоянных места.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Технический слайд, вынесен в приложение, чтобы не тормозить историю.
Показывать по запросу или оставить в раздатке.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запроса к акимату проговариваются здесь: одобрить архитектурно-градостроительную концепцию, выдать АПЗ для перехода к эскизному проекту, определить технические условия на подключение к сетям.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9864" y="3063240"/>
            <a:ext cx="649224" cy="722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комплекс с бизнес-центром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г. алматы, ул. бухтарминская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август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325216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25216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769968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69968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masterplan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214720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4720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659472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59472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plan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и окружение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СИТУАЦИОННАЯ СХЕМА</a:t>
            </a:r>
            <a:endParaRPr lang="en-US" sz="950" dirty="0"/>
          </a:p>
        </p:txBody>
      </p:sp>
      <p:pic>
        <p:nvPicPr>
          <p:cNvPr id="5" name="Image 0" descr="/home/user/most/presentations/aurora-hotel/assets/contex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01563"/>
            <a:ext cx="6766560" cy="47828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6012469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Оранжевым — проектируемый участок в структуре городской застройки.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987552"/>
            <a:ext cx="39895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Свободный участок 1,4 га на ул. Бухтарминской. Деловое и производственное окружение, жилая застройка не примыкает.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237744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35240" y="2578608"/>
            <a:ext cx="3989527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Снос и расселение не требуются.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обслуживается существующими проездами по всему периметру.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северу — действующая АЗС, зона 50 м на генплане.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635240" y="470916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4892040"/>
            <a:ext cx="398952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5312664"/>
            <a:ext cx="39895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СВОБОДНАЯ ТЕРРИТОРИЯ В СТРУКТУРЕ ГОРОДА</a:t>
            </a:r>
            <a:endParaRPr lang="en-US" sz="800" dirty="0"/>
          </a:p>
        </p:txBody>
      </p:sp>
      <p:pic>
        <p:nvPicPr>
          <p:cNvPr id="1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ПЛАН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Посадка на участок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ГЕНПЛАН</a:t>
            </a:r>
            <a:endParaRPr lang="en-US" sz="950" dirty="0"/>
          </a:p>
        </p:txBody>
      </p:sp>
      <p:pic>
        <p:nvPicPr>
          <p:cNvPr id="5" name="Image 0" descr="/home/user/most/presentations/aurora-hotel/assets/genpl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108" y="932688"/>
            <a:ext cx="5896704" cy="5440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178040" y="1024128"/>
            <a:ext cx="4446727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корпус вытянут вдоль участка и раскрыт во внутренний двор; бизнес-центр замыкает композицию с юго-востока.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замкнут вокруг застройки: подъезд ко всем входам и разворот пожарной техники.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Наземные стоянки вынесены на периметр и во внутренний двор, вне пятна застройки.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формирует буфер между застройкой и границами.</a:t>
            </a:r>
            <a:endParaRPr lang="en-US" sz="1100" dirty="0"/>
          </a:p>
        </p:txBody>
      </p:sp>
      <p:pic>
        <p:nvPicPr>
          <p:cNvPr id="7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выведена из силуэта Заилийского Алатау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950" dirty="0"/>
          </a:p>
        </p:txBody>
      </p:sp>
      <p:pic>
        <p:nvPicPr>
          <p:cNvPr id="5" name="Image 0" descr="/home/user/most/presentations/aurora-hotel/assets/genes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5386" y="841248"/>
            <a:ext cx="8298180" cy="5532120"/>
          </a:xfrm>
          <a:prstGeom prst="rect">
            <a:avLst/>
          </a:prstGeom>
        </p:spPr>
      </p:pic>
      <p:pic>
        <p:nvPicPr>
          <p:cNvPr id="6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faca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1737"/>
            <a:ext cx="12191695" cy="68614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ФАСАД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34898"/>
            <a:ext cx="12191695" cy="812779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_gra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34898"/>
            <a:ext cx="12191695" cy="812779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ЛОББИ-ЛАУНЖ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estaura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34898"/>
            <a:ext cx="12191695" cy="812779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nferen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28288"/>
            <a:ext cx="12191695" cy="811457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КОНФЕРЕНЦ-ЗАЛ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oardroo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34898"/>
            <a:ext cx="12191695" cy="812779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ПЕРЕГОВОРНАЯ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wor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34898"/>
            <a:ext cx="12191695" cy="812779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КОВОРКИНГ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gy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34898"/>
            <a:ext cx="12191695" cy="812779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ФИТНЕС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oo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36348"/>
            <a:ext cx="12191695" cy="813069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terra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634898"/>
            <a:ext cx="12191695" cy="812779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ОБЩЕСТВЕННАЯ ТЕРРАСА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9314" y="0"/>
            <a:ext cx="12290323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_lobb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1449417"/>
            <a:ext cx="12191695" cy="975683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 БИЗНЕС-ЦЕНТРА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_off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1449417"/>
            <a:ext cx="12191695" cy="975683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ОФИСНЫЙ ЭТАЖ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n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1737"/>
            <a:ext cx="12191695" cy="68614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ВЕЧЕРНИЙ ВИД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ЗОНИРОВАНИЕ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Распределение функций по этажам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</a:t>
            </a:r>
            <a:endParaRPr lang="en-US" sz="950" dirty="0"/>
          </a:p>
        </p:txBody>
      </p:sp>
      <p:pic>
        <p:nvPicPr>
          <p:cNvPr id="5" name="Image 0" descr="/home/user/most/presentations/aurora-hotel/assets/zon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5386" y="841248"/>
            <a:ext cx="8298180" cy="5532120"/>
          </a:xfrm>
          <a:prstGeom prst="rect">
            <a:avLst/>
          </a:prstGeom>
        </p:spPr>
      </p:pic>
      <p:pic>
        <p:nvPicPr>
          <p:cNvPr id="6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materia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348" y="0"/>
            <a:ext cx="10287000" cy="6858000"/>
          </a:xfrm>
          <a:prstGeom prst="rect">
            <a:avLst/>
          </a:prstGeom>
        </p:spPr>
      </p:pic>
      <p:pic>
        <p:nvPicPr>
          <p:cNvPr id="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Ключевые параметры проекта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ТЭП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УЧАСТКА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3298698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298698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КОМПЛЕКСА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094476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094476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НОМЕРА КАТЕГОРИИ 4 ЗВЕЗДЫ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890254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890254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НАДЗЕМНАЯ ПЛОЩАДЬ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2670048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272491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застройки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7249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4 981,16 м²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27249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35,6 % участка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302666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314096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1-го этажа — общественные функции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31409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4 483,04 м²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31409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20,0 % надземной площади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442716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355701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Конференц-блок, нетто (этаж 2)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897880" y="35570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1 916,32 м²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458200" y="35570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зал на 600–700 мест с фойе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3858768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2920" y="39730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фонд, нетто (этажи 3–5)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897880" y="39730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4 616,00 м²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458200" y="39730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номеров, средний модуль 30,8 м²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427482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2920" y="43891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Бизнес-центр, нетто (этажи 2–5)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897880" y="4389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6 028,08 м²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458200" y="4389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26,9 % надземной площади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02920" y="4690872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2920" y="480517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Коридоры, узлы и техпомещения (расчётно)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897880" y="48051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5 371,76 м²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458200" y="480517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этажа 0,70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0692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02920" y="522122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Надземная часть, всего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897880" y="52212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22 415,20 м²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8458200" y="522122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коэф. использования территории 1,60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22976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02920" y="563727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Машино-места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5897880" y="56372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м/м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8458200" y="56372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чертежу генплана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02920" y="5939028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02920" y="6035040"/>
            <a:ext cx="11183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Строка с пометкой «расчётно» получена расчётом бюро: в ТЭП генплана указана только полезная площадь.</a:t>
            </a:r>
            <a:endParaRPr lang="en-US" sz="800" dirty="0"/>
          </a:p>
        </p:txBody>
      </p:sp>
      <p:pic>
        <p:nvPicPr>
          <p:cNvPr id="47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8" name="Text 45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ЁМКОСТЬ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Обоснование номерного фонда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 РЫНКА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07008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pPr indent="0" marL="0">
              <a:buNone/>
            </a:pP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627632"/>
            <a:ext cx="25214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 В ПРОЕКТЕ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3298698" y="1207008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 – 230</a:t>
            </a:r>
            <a:pPr indent="0" marL="0">
              <a:buNone/>
            </a:pP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3298698" y="1627632"/>
            <a:ext cx="25214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СЛОЖИВШАЯСЯ ЁМКОСТЬ БРЕНДОВОГО ОТЕЛЯ 4 ЗВЕЗДЫ В АЛМАТЫ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094476" y="1207008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– 300</a:t>
            </a:r>
            <a:pPr indent="0" marL="0">
              <a:buNone/>
            </a:pPr>
            <a:endParaRPr lang="en-US" sz="2900" dirty="0"/>
          </a:p>
        </p:txBody>
      </p:sp>
      <p:sp>
        <p:nvSpPr>
          <p:cNvPr id="10" name="Text 8"/>
          <p:cNvSpPr txBox="1"/>
          <p:nvPr/>
        </p:nvSpPr>
        <p:spPr>
          <a:xfrm>
            <a:off x="6094476" y="1627632"/>
            <a:ext cx="25214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 В ГОД — СКОРОСТЬ ПОГЛОЩЕНИЯ РЫНКОМ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890254" y="1207008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69,5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2900" dirty="0"/>
          </a:p>
        </p:txBody>
      </p:sp>
      <p:sp>
        <p:nvSpPr>
          <p:cNvPr id="12" name="Text 10"/>
          <p:cNvSpPr txBox="1"/>
          <p:nvPr/>
        </p:nvSpPr>
        <p:spPr>
          <a:xfrm>
            <a:off x="8890254" y="1627632"/>
            <a:ext cx="25214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ЗАГРУЗКА 2024 ГОДА ПРИ СРЕДНЕМ ЗА ДЕВЯТЬ ЛЕТ 54 %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2834640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306324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СОПОСТАВИМЫЕ ОТЕЛИ АЛМАТЫ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410712"/>
            <a:ext cx="5157216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3611880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Novotel Almaty City Center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465576" y="36118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звезды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745736" y="361188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3922776"/>
            <a:ext cx="5157216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2920" y="4050792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Holiday Inn Almaty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3465576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звезды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745736" y="40507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229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" y="4361688"/>
            <a:ext cx="5157216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2920" y="4489704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Rixos Almaty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465576" y="44897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звёзд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745736" y="448970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237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02920" y="4800600"/>
            <a:ext cx="5157216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2920" y="5056632"/>
            <a:ext cx="51572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заходит ниже сложившейся ёмкости рынка: 150 номеров это 1,23 % номерного фонда Алматы и менее года ёмкости поглощения. Запас взят сознательно.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528816" y="306324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ГОВОРИТ РЫНОК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528816" y="3410712"/>
            <a:ext cx="5157216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28816" y="3611880"/>
            <a:ext cx="51572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Признаков системного перегрева нет: 2022–2024 годы дали устойчивое восстановление и рост загрузки до 65–70 %.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Рост спроса 5–7 % в год. Ввод номерного фонда 4–5 звёзд в 2026–2028 годах рынок поглотит, но конкурентное давление вырастет, а загрузка временно снизится.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Рекомендован поэтапный ввод с фазой стабилизации 3–5 лет между объектами.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6199632"/>
            <a:ext cx="11183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Источники: Cushman &amp; Wakefield Kazakhstan, анализ рынка гостиничной недвижимости Алматы, 2025; открытые данные операторов.</a:t>
            </a:r>
            <a:endParaRPr lang="en-US" sz="800" dirty="0"/>
          </a:p>
        </p:txBody>
      </p:sp>
      <p:pic>
        <p:nvPicPr>
          <p:cNvPr id="33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УСТОЙЧИВОСТЬ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источника выручки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ЭКОНОМИКА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1430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Комплекс не зависит от одной суточной загрузки: две трети полезной площади работают по договорам аренды и заявкам на мероприятия.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2286000"/>
            <a:ext cx="45720" cy="658368"/>
          </a:xfrm>
          <a:prstGeom prst="rect">
            <a:avLst/>
          </a:prstGeom>
          <a:solidFill>
            <a:srgbClr val="FF4D23"/>
          </a:solidFill>
          <a:ln w="12700">
            <a:solidFill>
              <a:srgbClr val="FF4D2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286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6032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Договоры аренды, годовой горизонт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286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6 028,08 м²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080760" y="25603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35,4 % полезной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366760" y="2286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предсказуемость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8366760" y="2542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ВЫСОКАЯ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035808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3218688"/>
            <a:ext cx="45720" cy="658368"/>
          </a:xfrm>
          <a:prstGeom prst="rect">
            <a:avLst/>
          </a:prstGeom>
          <a:solidFill>
            <a:srgbClr val="FF4D23"/>
          </a:solidFill>
          <a:ln w="12700">
            <a:solidFill>
              <a:srgbClr val="FF4D2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2186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Конференц-блок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349300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Событийная сдача, собственные и сторонние мероприятия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080760" y="32186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1 916,32 м²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80760" y="34930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11,2 % полезной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8366760" y="32186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предсказуемость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8366760" y="3474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СРЕДНЯЯ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968496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4151376"/>
            <a:ext cx="45720" cy="658368"/>
          </a:xfrm>
          <a:prstGeom prst="rect">
            <a:avLst/>
          </a:prstGeom>
          <a:solidFill>
            <a:srgbClr val="FF4D23"/>
          </a:solidFill>
          <a:ln w="12700">
            <a:solidFill>
              <a:srgbClr val="FF4D2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41513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4425696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Суточная загрузка, сезонная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080760" y="4151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4 616,00 м²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080760" y="44256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27,1 % полезной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8366760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предсказуемость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8366760" y="44074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НИЗКАЯ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2920" y="490118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5084064"/>
            <a:ext cx="45720" cy="658368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50840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этаж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535838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Обслуживает все три функции и работает на город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080760" y="50840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4 483,04 м²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080760" y="535838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26,3 % полезной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8366760" y="50840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предсказуемость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8366760" y="53400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02920" y="5833872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02920" y="6126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47 %</a:t>
            </a:r>
            <a:endParaRPr lang="en-US" sz="2200" dirty="0"/>
          </a:p>
        </p:txBody>
      </p:sp>
      <p:sp>
        <p:nvSpPr>
          <p:cNvPr id="39" name="Text 37"/>
          <p:cNvSpPr txBox="1"/>
          <p:nvPr/>
        </p:nvSpPr>
        <p:spPr>
          <a:xfrm>
            <a:off x="1645920" y="61264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полезной площади работает по договорам аренды и заявкам на мероприятия. От суточной загрузки зависит 27 %.</a:t>
            </a:r>
            <a:endParaRPr lang="en-US" sz="1100" dirty="0"/>
          </a:p>
        </p:txBody>
      </p:sp>
      <p:pic>
        <p:nvPicPr>
          <p:cNvPr id="40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1" name="Text 38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нормам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НОРМЫ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ПОДТВЕРЖДЕНО ГЕНПЛАНОМ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5 этажей по гостиничному корпусу и бизнес-центру, без превышения отметок соседней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Замкнутый кольцевой пожарный проезд вокруг пятна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Плотность застройки 35,6 %, коэффициент использования территории 1,60.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участка.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528816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УТОЧНЯЕТСЯ НА СТАДИИ ЭП И ПСД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28816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 участка уточняются по чертежу генерального плана.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Санитарно-защитная зона действующей АЗС: подтвердить тип станции и установленный размер СЗЗ. На генплане прочерчена зона 50 м.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машино-мест по нормативу раздельно для гостиницы и бизнес-центра; на генплане предусмотрено 102 наземных места.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Состав технических и хозяйственных помещений первого этажа уточняется на стадии эскизного проекта.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 территории раздельно: озеленение, покрытия, проезды, площадки.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Технические условия на воду, канализацию, тепло и электроснабжение; расчёты инсоляции и шума.</a:t>
            </a:r>
            <a:endParaRPr lang="en-US" sz="1050" dirty="0"/>
          </a:p>
        </p:txBody>
      </p:sp>
      <p:pic>
        <p:nvPicPr>
          <p:cNvPr id="11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qr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2962656"/>
            <a:ext cx="685800" cy="685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e-mail: info@most-a.com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 (771) 733 77 00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492344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92344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MOST Architects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Гостиничный комплекс — г. Алматы, ул. Бухтарминская</dc:title>
  <dc:subject>PptxGenJS Presentation</dc:subject>
  <dc:creator>MOST Architects</dc:creator>
  <cp:lastModifiedBy>MOST Architects</cp:lastModifiedBy>
  <cp:revision>1</cp:revision>
  <dcterms:created xsi:type="dcterms:W3CDTF">2026-08-31T14:43:29Z</dcterms:created>
  <dcterms:modified xsi:type="dcterms:W3CDTF">2026-08-31T14:43:29Z</dcterms:modified>
</cp:coreProperties>
</file>